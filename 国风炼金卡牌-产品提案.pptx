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大家好，欢迎了解我们的新项目——国风炼金卡牌。这是一款以游戏化方式承载中国历史内容的轻学习产品，将在抖音小程序平台上线。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今天我会从九个维度完整呈现这个产品方案。从项目定位出发，经过核心玩法和卡牌体系的设计，再到经济模型和终极目标，步步深入。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首先让我们明确这个项目的定位。它不只是一个抽卡游戏，而是一个让玩家在不知不觉中了解中国历史的轻量学习工具。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表面上玩家在做抽卡、升星、合成这些常规卡牌操作，但实际上他们在认识历史人物、理解历史事件、串联历史脉络。我们最大的差异化在于，哪怕是一张最低级的卡牌，也必须是一个完整的历史知识点。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有了清晰的定位后，我们来看看玩家每天在游戏中会做什么。核心玩法围绕一个每日循环展开，由十大系统支撑。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玩家的每一天从登录开始，获得免费抽卡次数，抽取基础历史卡牌。然后通过同名卡升星消耗重复卡，再通过跨卡合成获取更高级的卡牌，解锁历史图鉴。最终目标是冲击12级终极历史事件卡。完成这些操作后，通过分享、广告和任务获得更多抽卡机会，次日继续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支撑这个每日循环的是十大核心系统。从抽卡到库存管理、从同名升星到跨卡合成、从图鉴到任务、广告和分享奖励，最后是终极编号卡和支付内购系统。其中红色标记的终极编号卡是我们的核心差异化所在。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接下来进入卡牌体系的核心设计。我们为卡牌定义了三大属性、十二个级别，并做了详细的数量规划。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大属性分别是级别、星级和编号。级别从1到12，代表合成层级和历史价值；星级从1到5，代表同名卡强化程度，一张五星卡需要十六张一星卡合成；编号仅用于12级终极卡，限量88张每种，总共8800张，是稀缺性和收藏价值的来源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1级的基础历史元素，比如小人物、地名、器物，到12级的终极历史事件卡，十二个层级覆盖了五千年历史的方方面面。像纪信、周苛、夏侯婴这些在大众历史中少有人知的名字，在我们的卡池里都是重要的低级卡内容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第一版我们建议生成2130张不同的母卡素材。其中1级卡就有480张，确保卡池足够深厚。终极卡方面，100种乘以88张限量，总发行量8800张。注意母卡素材只需要100张终极卡原画，编号是后端动态叠加的。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现在来看看玩家怎么获得这些卡牌。抽卡和星级系统是游戏的前端体验核心。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活跃用户每天最多可以获得30到35次抽卡，来自登录、分享、广告和任务。普通卡池只产出1到2级卡，高级卡需要通过合成获得，这样保证了稀有度和游戏的长期生命力。我们还设计了活跃卡池轮换机制，避免全量480张1级卡同时在线导致玩家抽不到重复卡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同名卡二合一升星是消耗重复卡的核心机制。从一星升到五星，需要16张同名一星卡。这既消耗了重复卡，又增加了低级卡的价值，同时有效控制了卡牌通胀。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升级到高级卡的关键是合成系统。我们设计了三种合成方式，每种都有真实的历史依据。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种是同名升星，纯粹的重复卡消耗。第二种是人物关系合成，比如刘备加关羽合成桃园结义，刘邦加纪信合成荥阳脱困。第三种是事件链合成，按照历史事件的先后逻辑串联，比如陈胜吴广起义加巨鹿之战合成秦末烽烟，最后一路到大汉开国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了保证高级卡的稀缺性，1到7级的合成是百分百成功的，但从8级开始引入失败率，最高到12级只有百分之七十五的成功率。这样的设计使得一张12级终极卡大约需要3000到5000张1级卡的等价消耗，全服8800张终极卡大约需要4000多万张低级卡来支撑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12级终极编号卡是游戏的最高目标。100种终极卡，每种限量88张，总共8800张。每一张都有唯一编号，比如赤壁之战第17号。当某张卡88个编号全部发完后，我们还有纪念版、碎片补偿等替代机制，不会让玩家路线完全堵死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看一组经济模型数据。如果每天有5000活跃用户，每人35次抽卡，理论消耗完所有终极卡需要236天。但实际因为用户路线分散、重复卡闲置和合成失败等因素，实际周期是理论值的2到3倍，也就是大约一年半到两年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一下，国风炼金卡牌是游戏化、历史教育和卡牌收集经济三者的结合。目前产品定位、核心玩法、卡牌体系和经济模型已经完成。接下来需要推进技术选型、UI设计、卡牌内容库建设和抖音小程序开发。谢谢大家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96E">
                  <a:alpha val="6000"/>
                </a:srgbClr>
              </a:gs>
              <a:gs pos="100000">
                <a:srgbClr val="C9A96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4953000" y="1714500"/>
            <a:ext cx="2286000" cy="9525"/>
          </a:xfrm>
          <a:prstGeom prst="rect">
            <a:avLst/>
          </a:prstGeom>
          <a:solidFill>
            <a:srgbClr val="C9A96E">
              <a:alpha val="40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759137" y="2179320"/>
            <a:ext cx="4673727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C9A96E"/>
                </a:solidFill>
                <a:latin typeface="Georgia"/>
                <a:ea typeface="KaiTi"/>
                <a:cs typeface="Georgia"/>
              </a:rPr>
              <a:t>国风炼金卡牌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70910" y="3123248"/>
            <a:ext cx="525018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以游戏化方式承载中国历史内容的轻学习产品</a:t>
            </a:r>
          </a:p>
        </p:txBody>
      </p:sp>
      <p:sp>
        <p:nvSpPr>
          <p:cNvPr id="7" name="Rectangle 7"/>
          <p:cNvSpPr/>
          <p:nvPr/>
        </p:nvSpPr>
        <p:spPr>
          <a:xfrm>
            <a:off x="5334000" y="3714750"/>
            <a:ext cx="1524000" cy="9525"/>
          </a:xfrm>
          <a:prstGeom prst="rect">
            <a:avLst/>
          </a:prstGeom>
          <a:solidFill>
            <a:srgbClr val="C9A96E">
              <a:alpha val="30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994400" y="4146550"/>
            <a:ext cx="203200" cy="203200"/>
            <a:chOff x="5994400" y="4146550"/>
            <a:chExt cx="203200" cy="203200"/>
          </a:xfrm>
        </p:grpSpPr>
        <p:sp>
          <p:nvSpPr>
            <p:cNvPr id="8" name="Freeform 8"/>
            <p:cNvSpPr/>
            <p:nvPr/>
          </p:nvSpPr>
          <p:spPr>
            <a:xfrm>
              <a:off x="5994400" y="414655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203200" y="0"/>
                  </a:moveTo>
                  <a:lnTo>
                    <a:pt x="203200" y="63500"/>
                  </a:lnTo>
                  <a:lnTo>
                    <a:pt x="88900" y="152400"/>
                  </a:lnTo>
                  <a:lnTo>
                    <a:pt x="38100" y="203200"/>
                  </a:lnTo>
                  <a:lnTo>
                    <a:pt x="0" y="165100"/>
                  </a:lnTo>
                  <a:lnTo>
                    <a:pt x="50800" y="114300"/>
                  </a:lnTo>
                  <a:lnTo>
                    <a:pt x="139700" y="0"/>
                  </a:lnTo>
                  <a:lnTo>
                    <a:pt x="203200" y="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6026150" y="42418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76200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5069086" y="5784056"/>
            <a:ext cx="20538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抖音小程序 · 产品提案 · 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96E">
                  <a:alpha val="4000"/>
                </a:srgbClr>
              </a:gs>
              <a:gs pos="100000">
                <a:srgbClr val="C9A96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327660"/>
            <a:ext cx="82467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C9A96E"/>
                </a:solidFill>
                <a:latin typeface="Georgia"/>
                <a:ea typeface="KaiTi"/>
                <a:cs typeface="Georgia"/>
              </a:rPr>
              <a:t>目录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762000"/>
            <a:ext cx="571500" cy="19050"/>
          </a:xfrm>
          <a:prstGeom prst="rect">
            <a:avLst/>
          </a:prstGeom>
          <a:solidFill>
            <a:srgbClr val="C9A96E">
              <a:alpha val="5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2950" y="136207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3950" y="136207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项目定位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800600" y="1390650"/>
            <a:ext cx="152400" cy="152400"/>
            <a:chOff x="4800600" y="1390650"/>
            <a:chExt cx="152400" cy="152400"/>
          </a:xfrm>
        </p:grpSpPr>
        <p:sp>
          <p:nvSpPr>
            <p:cNvPr id="8" name="Freeform 8"/>
            <p:cNvSpPr/>
            <p:nvPr/>
          </p:nvSpPr>
          <p:spPr>
            <a:xfrm>
              <a:off x="4800600" y="139065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38100"/>
                  </a:move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lnTo>
                    <a:pt x="38100" y="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800600" y="150495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0"/>
                  </a:moveTo>
                  <a:lnTo>
                    <a:pt x="0" y="19050"/>
                  </a:lnTo>
                  <a:cubicBezTo>
                    <a:pt x="0" y="29571"/>
                    <a:pt x="8529" y="38100"/>
                    <a:pt x="19050" y="38100"/>
                  </a:cubicBezTo>
                  <a:lnTo>
                    <a:pt x="38100" y="3810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4914900" y="139065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3810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914900" y="150495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38100"/>
                  </a:moveTo>
                  <a:lnTo>
                    <a:pt x="19050" y="38100"/>
                  </a:lnTo>
                  <a:cubicBezTo>
                    <a:pt x="29571" y="38100"/>
                    <a:pt x="38100" y="29571"/>
                    <a:pt x="38100" y="19050"/>
                  </a:cubicBezTo>
                  <a:lnTo>
                    <a:pt x="38100" y="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4848225" y="146685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876800" y="1438275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742950" y="183832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3950" y="1838325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核心玩法设计</a:t>
            </a:r>
          </a:p>
        </p:txBody>
      </p:sp>
      <p:sp>
        <p:nvSpPr>
          <p:cNvPr id="17" name="Freeform 17"/>
          <p:cNvSpPr/>
          <p:nvPr/>
        </p:nvSpPr>
        <p:spPr>
          <a:xfrm>
            <a:off x="4791075" y="18573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9525" y="38100"/>
                </a:moveTo>
                <a:lnTo>
                  <a:pt x="38100" y="38100"/>
                </a:lnTo>
                <a:cubicBezTo>
                  <a:pt x="43361" y="38100"/>
                  <a:pt x="47625" y="33836"/>
                  <a:pt x="47625" y="28575"/>
                </a:cubicBezTo>
                <a:lnTo>
                  <a:pt x="47625" y="19050"/>
                </a:lnTo>
                <a:cubicBezTo>
                  <a:pt x="47625" y="8529"/>
                  <a:pt x="56154" y="0"/>
                  <a:pt x="66675" y="0"/>
                </a:cubicBezTo>
                <a:cubicBezTo>
                  <a:pt x="77196" y="0"/>
                  <a:pt x="85725" y="8529"/>
                  <a:pt x="85725" y="19050"/>
                </a:cubicBezTo>
                <a:lnTo>
                  <a:pt x="85725" y="28575"/>
                </a:lnTo>
                <a:cubicBezTo>
                  <a:pt x="85725" y="33836"/>
                  <a:pt x="89989" y="38100"/>
                  <a:pt x="95250" y="38100"/>
                </a:cubicBezTo>
                <a:lnTo>
                  <a:pt x="123825" y="38100"/>
                </a:lnTo>
                <a:cubicBezTo>
                  <a:pt x="129086" y="38100"/>
                  <a:pt x="133350" y="42364"/>
                  <a:pt x="133350" y="47625"/>
                </a:cubicBezTo>
                <a:lnTo>
                  <a:pt x="133350" y="76200"/>
                </a:lnTo>
                <a:cubicBezTo>
                  <a:pt x="133350" y="81461"/>
                  <a:pt x="137614" y="85725"/>
                  <a:pt x="142875" y="85725"/>
                </a:cubicBezTo>
                <a:lnTo>
                  <a:pt x="152400" y="85725"/>
                </a:lnTo>
                <a:cubicBezTo>
                  <a:pt x="162921" y="85725"/>
                  <a:pt x="171450" y="94254"/>
                  <a:pt x="171450" y="104775"/>
                </a:cubicBezTo>
                <a:cubicBezTo>
                  <a:pt x="171450" y="115296"/>
                  <a:pt x="162921" y="123825"/>
                  <a:pt x="152400" y="123825"/>
                </a:cubicBezTo>
                <a:lnTo>
                  <a:pt x="142875" y="123825"/>
                </a:lnTo>
                <a:cubicBezTo>
                  <a:pt x="137614" y="123825"/>
                  <a:pt x="133350" y="128089"/>
                  <a:pt x="133350" y="133350"/>
                </a:cubicBezTo>
                <a:lnTo>
                  <a:pt x="133350" y="161925"/>
                </a:lnTo>
                <a:cubicBezTo>
                  <a:pt x="133350" y="167186"/>
                  <a:pt x="129086" y="171450"/>
                  <a:pt x="123825" y="171450"/>
                </a:cubicBezTo>
                <a:lnTo>
                  <a:pt x="95250" y="171450"/>
                </a:lnTo>
                <a:cubicBezTo>
                  <a:pt x="89989" y="171450"/>
                  <a:pt x="85725" y="167186"/>
                  <a:pt x="85725" y="161925"/>
                </a:cubicBezTo>
                <a:lnTo>
                  <a:pt x="85725" y="152400"/>
                </a:lnTo>
                <a:cubicBezTo>
                  <a:pt x="85725" y="141879"/>
                  <a:pt x="77196" y="133350"/>
                  <a:pt x="66675" y="133350"/>
                </a:cubicBezTo>
                <a:cubicBezTo>
                  <a:pt x="56154" y="133350"/>
                  <a:pt x="47625" y="141879"/>
                  <a:pt x="47625" y="152400"/>
                </a:cubicBezTo>
                <a:lnTo>
                  <a:pt x="47625" y="161925"/>
                </a:lnTo>
                <a:cubicBezTo>
                  <a:pt x="47625" y="167186"/>
                  <a:pt x="43361" y="171450"/>
                  <a:pt x="38100" y="171450"/>
                </a:cubicBezTo>
                <a:lnTo>
                  <a:pt x="9525" y="171450"/>
                </a:lnTo>
                <a:cubicBezTo>
                  <a:pt x="4264" y="171450"/>
                  <a:pt x="0" y="167186"/>
                  <a:pt x="0" y="161925"/>
                </a:cubicBezTo>
                <a:lnTo>
                  <a:pt x="0" y="133350"/>
                </a:lnTo>
                <a:cubicBezTo>
                  <a:pt x="0" y="128089"/>
                  <a:pt x="4264" y="123825"/>
                  <a:pt x="9525" y="123825"/>
                </a:cubicBezTo>
                <a:lnTo>
                  <a:pt x="19050" y="123825"/>
                </a:lnTo>
                <a:cubicBezTo>
                  <a:pt x="29571" y="123825"/>
                  <a:pt x="38100" y="115296"/>
                  <a:pt x="38100" y="104775"/>
                </a:cubicBezTo>
                <a:cubicBezTo>
                  <a:pt x="38100" y="94254"/>
                  <a:pt x="29571" y="85725"/>
                  <a:pt x="19050" y="85725"/>
                </a:cubicBezTo>
                <a:lnTo>
                  <a:pt x="9525" y="85725"/>
                </a:lnTo>
                <a:cubicBezTo>
                  <a:pt x="4264" y="85725"/>
                  <a:pt x="0" y="81461"/>
                  <a:pt x="0" y="76200"/>
                </a:cubicBezTo>
                <a:lnTo>
                  <a:pt x="0" y="47625"/>
                </a:lnTo>
                <a:cubicBezTo>
                  <a:pt x="0" y="42364"/>
                  <a:pt x="4264" y="38100"/>
                  <a:pt x="9525" y="38100"/>
                </a:cubicBezTo>
              </a:path>
            </a:pathLst>
          </a:custGeom>
          <a:noFill/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42950" y="231457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3950" y="2314575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卡牌体系设计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4789904" y="2343002"/>
            <a:ext cx="177513" cy="162397"/>
            <a:chOff x="4789904" y="2343002"/>
            <a:chExt cx="177513" cy="162397"/>
          </a:xfrm>
        </p:grpSpPr>
        <p:sp>
          <p:nvSpPr>
            <p:cNvPr id="20" name="Freeform 20"/>
            <p:cNvSpPr/>
            <p:nvPr/>
          </p:nvSpPr>
          <p:spPr>
            <a:xfrm>
              <a:off x="4789904" y="2343002"/>
              <a:ext cx="135939" cy="162397"/>
            </a:xfrm>
            <a:custGeom>
              <a:avLst/>
              <a:gdLst/>
              <a:ahLst/>
              <a:cxnLst/>
              <a:rect l="l" t="t" r="r" b="b"/>
              <a:pathLst>
                <a:path w="135939" h="162397">
                  <a:moveTo>
                    <a:pt x="6924" y="30600"/>
                  </a:moveTo>
                  <a:lnTo>
                    <a:pt x="74913" y="986"/>
                  </a:lnTo>
                  <a:cubicBezTo>
                    <a:pt x="77180" y="15"/>
                    <a:pt x="79743" y="0"/>
                    <a:pt x="82020" y="945"/>
                  </a:cubicBezTo>
                  <a:cubicBezTo>
                    <a:pt x="84298" y="1890"/>
                    <a:pt x="86097" y="3715"/>
                    <a:pt x="87010" y="6006"/>
                  </a:cubicBezTo>
                  <a:lnTo>
                    <a:pt x="133911" y="119373"/>
                  </a:lnTo>
                  <a:cubicBezTo>
                    <a:pt x="135939" y="124155"/>
                    <a:pt x="133761" y="129681"/>
                    <a:pt x="129015" y="131793"/>
                  </a:cubicBezTo>
                  <a:lnTo>
                    <a:pt x="61035" y="161406"/>
                  </a:lnTo>
                  <a:cubicBezTo>
                    <a:pt x="58768" y="162381"/>
                    <a:pt x="56203" y="162397"/>
                    <a:pt x="53923" y="161452"/>
                  </a:cubicBezTo>
                  <a:cubicBezTo>
                    <a:pt x="51643" y="160507"/>
                    <a:pt x="49842" y="158680"/>
                    <a:pt x="48929" y="156387"/>
                  </a:cubicBezTo>
                  <a:lnTo>
                    <a:pt x="2028" y="43011"/>
                  </a:lnTo>
                  <a:cubicBezTo>
                    <a:pt x="0" y="38228"/>
                    <a:pt x="2178" y="32702"/>
                    <a:pt x="6924" y="30590"/>
                  </a:cubicBezTo>
                  <a:lnTo>
                    <a:pt x="6924" y="3060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905375" y="2343150"/>
              <a:ext cx="19050" cy="42862"/>
            </a:xfrm>
            <a:custGeom>
              <a:avLst/>
              <a:gdLst/>
              <a:ahLst/>
              <a:cxnLst/>
              <a:rect l="l" t="t" r="r" b="b"/>
              <a:pathLst>
                <a:path w="19050" h="42862">
                  <a:moveTo>
                    <a:pt x="0" y="0"/>
                  </a:moveTo>
                  <a:lnTo>
                    <a:pt x="9525" y="0"/>
                  </a:lnTo>
                  <a:cubicBezTo>
                    <a:pt x="14786" y="0"/>
                    <a:pt x="19050" y="4264"/>
                    <a:pt x="19050" y="9525"/>
                  </a:cubicBezTo>
                  <a:lnTo>
                    <a:pt x="19050" y="42862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4943475" y="2362200"/>
              <a:ext cx="23942" cy="66675"/>
            </a:xfrm>
            <a:custGeom>
              <a:avLst/>
              <a:gdLst/>
              <a:ahLst/>
              <a:cxnLst/>
              <a:rect l="l" t="t" r="r" b="b"/>
              <a:pathLst>
                <a:path w="23942" h="66675">
                  <a:moveTo>
                    <a:pt x="9525" y="0"/>
                  </a:moveTo>
                  <a:cubicBezTo>
                    <a:pt x="12040" y="1067"/>
                    <a:pt x="14478" y="2067"/>
                    <a:pt x="16840" y="3000"/>
                  </a:cubicBezTo>
                  <a:cubicBezTo>
                    <a:pt x="21682" y="5055"/>
                    <a:pt x="23942" y="10645"/>
                    <a:pt x="21888" y="15488"/>
                  </a:cubicBezTo>
                  <a:lnTo>
                    <a:pt x="0" y="66675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742950" y="279082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3950" y="2790825"/>
            <a:ext cx="14382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十二级卡牌结构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4785552" y="2800350"/>
            <a:ext cx="183678" cy="191172"/>
            <a:chOff x="4785552" y="2800350"/>
            <a:chExt cx="183678" cy="191172"/>
          </a:xfrm>
        </p:grpSpPr>
        <p:sp>
          <p:nvSpPr>
            <p:cNvPr id="26" name="Freeform 26"/>
            <p:cNvSpPr/>
            <p:nvPr/>
          </p:nvSpPr>
          <p:spPr>
            <a:xfrm>
              <a:off x="4785552" y="2800350"/>
              <a:ext cx="183678" cy="191172"/>
            </a:xfrm>
            <a:custGeom>
              <a:avLst/>
              <a:gdLst/>
              <a:ahLst/>
              <a:cxnLst/>
              <a:rect l="l" t="t" r="r" b="b"/>
              <a:pathLst>
                <a:path w="183678" h="191172">
                  <a:moveTo>
                    <a:pt x="82723" y="188481"/>
                  </a:moveTo>
                  <a:cubicBezTo>
                    <a:pt x="88084" y="191172"/>
                    <a:pt x="94402" y="191172"/>
                    <a:pt x="99763" y="188481"/>
                  </a:cubicBezTo>
                  <a:lnTo>
                    <a:pt x="176840" y="149867"/>
                  </a:lnTo>
                  <a:cubicBezTo>
                    <a:pt x="181964" y="147295"/>
                    <a:pt x="183678" y="140808"/>
                    <a:pt x="180507" y="136036"/>
                  </a:cubicBezTo>
                  <a:lnTo>
                    <a:pt x="99163" y="4248"/>
                  </a:lnTo>
                  <a:cubicBezTo>
                    <a:pt x="97399" y="1595"/>
                    <a:pt x="94425" y="0"/>
                    <a:pt x="91238" y="0"/>
                  </a:cubicBezTo>
                  <a:cubicBezTo>
                    <a:pt x="88052" y="0"/>
                    <a:pt x="85077" y="1595"/>
                    <a:pt x="83314" y="4248"/>
                  </a:cubicBezTo>
                  <a:lnTo>
                    <a:pt x="1970" y="136036"/>
                  </a:lnTo>
                  <a:cubicBezTo>
                    <a:pt x="461" y="138317"/>
                    <a:pt x="0" y="141134"/>
                    <a:pt x="703" y="143777"/>
                  </a:cubicBezTo>
                  <a:cubicBezTo>
                    <a:pt x="1405" y="146420"/>
                    <a:pt x="3205" y="148636"/>
                    <a:pt x="5647" y="149867"/>
                  </a:cubicBezTo>
                  <a:lnTo>
                    <a:pt x="82723" y="188481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876800" y="28003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742950" y="326707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23950" y="3267075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卡牌数量设计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4800600" y="3286125"/>
            <a:ext cx="152400" cy="171450"/>
            <a:chOff x="4800600" y="3286125"/>
            <a:chExt cx="152400" cy="171450"/>
          </a:xfrm>
        </p:grpSpPr>
        <p:sp>
          <p:nvSpPr>
            <p:cNvPr id="31" name="Freeform 31"/>
            <p:cNvSpPr/>
            <p:nvPr/>
          </p:nvSpPr>
          <p:spPr>
            <a:xfrm>
              <a:off x="4800600" y="328612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0" y="19050"/>
                  </a:moveTo>
                  <a:cubicBezTo>
                    <a:pt x="0" y="8529"/>
                    <a:pt x="8529" y="0"/>
                    <a:pt x="19050" y="0"/>
                  </a:cubicBezTo>
                  <a:lnTo>
                    <a:pt x="133350" y="0"/>
                  </a:lnTo>
                  <a:cubicBezTo>
                    <a:pt x="143871" y="0"/>
                    <a:pt x="152400" y="8529"/>
                    <a:pt x="152400" y="19050"/>
                  </a:cubicBezTo>
                  <a:lnTo>
                    <a:pt x="152400" y="152400"/>
                  </a:lnTo>
                  <a:cubicBezTo>
                    <a:pt x="152400" y="162921"/>
                    <a:pt x="143871" y="171450"/>
                    <a:pt x="133350" y="171450"/>
                  </a:cubicBezTo>
                  <a:lnTo>
                    <a:pt x="19050" y="171450"/>
                  </a:lnTo>
                  <a:cubicBezTo>
                    <a:pt x="8529" y="171450"/>
                    <a:pt x="0" y="162921"/>
                    <a:pt x="0" y="152400"/>
                  </a:cubicBezTo>
                  <a:lnTo>
                    <a:pt x="0" y="1905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4838700" y="3324225"/>
              <a:ext cx="76200" cy="28575"/>
            </a:xfrm>
            <a:custGeom>
              <a:avLst/>
              <a:gdLst/>
              <a:ahLst/>
              <a:cxnLst/>
              <a:rect l="l" t="t" r="r" b="b"/>
              <a:pathLst>
                <a:path w="76200" h="28575">
                  <a:moveTo>
                    <a:pt x="0" y="9525"/>
                  </a:moveTo>
                  <a:cubicBezTo>
                    <a:pt x="0" y="4264"/>
                    <a:pt x="4264" y="0"/>
                    <a:pt x="9525" y="0"/>
                  </a:cubicBezTo>
                  <a:lnTo>
                    <a:pt x="66675" y="0"/>
                  </a:lnTo>
                  <a:cubicBezTo>
                    <a:pt x="71936" y="0"/>
                    <a:pt x="76200" y="4264"/>
                    <a:pt x="76200" y="9525"/>
                  </a:cubicBezTo>
                  <a:lnTo>
                    <a:pt x="76200" y="19050"/>
                  </a:lnTo>
                  <a:cubicBezTo>
                    <a:pt x="76200" y="24311"/>
                    <a:pt x="71936" y="28575"/>
                    <a:pt x="66675" y="28575"/>
                  </a:cubicBezTo>
                  <a:lnTo>
                    <a:pt x="9525" y="28575"/>
                  </a:lnTo>
                  <a:cubicBezTo>
                    <a:pt x="4264" y="28575"/>
                    <a:pt x="0" y="24311"/>
                    <a:pt x="0" y="19050"/>
                  </a:cubicBezTo>
                  <a:lnTo>
                    <a:pt x="0" y="9525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4838700" y="33909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95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4876800" y="33909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95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4914900" y="33909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95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4838700" y="341947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95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4876800" y="341947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95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4914900" y="341947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95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40" name="TextBox 40"/>
          <p:cNvSpPr txBox="1"/>
          <p:nvPr/>
        </p:nvSpPr>
        <p:spPr>
          <a:xfrm>
            <a:off x="6457950" y="136207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38950" y="1362075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抽卡系统设计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0506075" y="1381125"/>
            <a:ext cx="171450" cy="171450"/>
            <a:chOff x="10506075" y="1381125"/>
            <a:chExt cx="171450" cy="171450"/>
          </a:xfrm>
        </p:grpSpPr>
        <p:sp>
          <p:nvSpPr>
            <p:cNvPr id="42" name="Freeform 42"/>
            <p:cNvSpPr/>
            <p:nvPr/>
          </p:nvSpPr>
          <p:spPr>
            <a:xfrm>
              <a:off x="10506075" y="13811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0" y="19050"/>
                  </a:moveTo>
                  <a:cubicBezTo>
                    <a:pt x="0" y="8529"/>
                    <a:pt x="8529" y="0"/>
                    <a:pt x="19050" y="0"/>
                  </a:cubicBezTo>
                  <a:lnTo>
                    <a:pt x="152400" y="0"/>
                  </a:lnTo>
                  <a:cubicBezTo>
                    <a:pt x="162921" y="0"/>
                    <a:pt x="171450" y="8529"/>
                    <a:pt x="171450" y="19050"/>
                  </a:cubicBezTo>
                  <a:lnTo>
                    <a:pt x="171450" y="152400"/>
                  </a:lnTo>
                  <a:cubicBezTo>
                    <a:pt x="171450" y="162921"/>
                    <a:pt x="162921" y="171450"/>
                    <a:pt x="152400" y="171450"/>
                  </a:cubicBezTo>
                  <a:lnTo>
                    <a:pt x="19050" y="171450"/>
                  </a:lnTo>
                  <a:cubicBezTo>
                    <a:pt x="8529" y="171450"/>
                    <a:pt x="0" y="162921"/>
                    <a:pt x="0" y="152400"/>
                  </a:cubicBezTo>
                  <a:lnTo>
                    <a:pt x="0" y="1905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10553700" y="14287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762"/>
                  </a:moveTo>
                  <a:cubicBezTo>
                    <a:pt x="0" y="7393"/>
                    <a:pt x="2132" y="9525"/>
                    <a:pt x="4762" y="9525"/>
                  </a:cubicBezTo>
                  <a:cubicBezTo>
                    <a:pt x="7393" y="9525"/>
                    <a:pt x="9525" y="7393"/>
                    <a:pt x="9525" y="4762"/>
                  </a:cubicBezTo>
                  <a:cubicBezTo>
                    <a:pt x="9525" y="2132"/>
                    <a:pt x="7393" y="0"/>
                    <a:pt x="4762" y="0"/>
                  </a:cubicBezTo>
                  <a:cubicBezTo>
                    <a:pt x="2132" y="0"/>
                    <a:pt x="0" y="2132"/>
                    <a:pt x="0" y="4762"/>
                  </a:cubicBezTo>
                </a:path>
              </a:pathLst>
            </a:custGeom>
            <a:noFill/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10620375" y="14287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762"/>
                  </a:moveTo>
                  <a:cubicBezTo>
                    <a:pt x="0" y="7393"/>
                    <a:pt x="2132" y="9525"/>
                    <a:pt x="4762" y="9525"/>
                  </a:cubicBezTo>
                  <a:cubicBezTo>
                    <a:pt x="7393" y="9525"/>
                    <a:pt x="9525" y="7393"/>
                    <a:pt x="9525" y="4762"/>
                  </a:cubicBezTo>
                  <a:cubicBezTo>
                    <a:pt x="9525" y="2132"/>
                    <a:pt x="7393" y="0"/>
                    <a:pt x="4762" y="0"/>
                  </a:cubicBezTo>
                  <a:cubicBezTo>
                    <a:pt x="2132" y="0"/>
                    <a:pt x="0" y="2132"/>
                    <a:pt x="0" y="4762"/>
                  </a:cubicBezTo>
                </a:path>
              </a:pathLst>
            </a:custGeom>
            <a:noFill/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10620375" y="149542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762"/>
                  </a:moveTo>
                  <a:cubicBezTo>
                    <a:pt x="0" y="7393"/>
                    <a:pt x="2132" y="9525"/>
                    <a:pt x="4762" y="9525"/>
                  </a:cubicBezTo>
                  <a:cubicBezTo>
                    <a:pt x="7393" y="9525"/>
                    <a:pt x="9525" y="7393"/>
                    <a:pt x="9525" y="4762"/>
                  </a:cubicBezTo>
                  <a:cubicBezTo>
                    <a:pt x="9525" y="2132"/>
                    <a:pt x="7393" y="0"/>
                    <a:pt x="4762" y="0"/>
                  </a:cubicBezTo>
                  <a:cubicBezTo>
                    <a:pt x="2132" y="0"/>
                    <a:pt x="0" y="2132"/>
                    <a:pt x="0" y="4762"/>
                  </a:cubicBezTo>
                </a:path>
              </a:pathLst>
            </a:custGeom>
            <a:noFill/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10553700" y="149542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762"/>
                  </a:moveTo>
                  <a:cubicBezTo>
                    <a:pt x="0" y="7393"/>
                    <a:pt x="2132" y="9525"/>
                    <a:pt x="4762" y="9525"/>
                  </a:cubicBezTo>
                  <a:cubicBezTo>
                    <a:pt x="7393" y="9525"/>
                    <a:pt x="9525" y="7393"/>
                    <a:pt x="9525" y="4762"/>
                  </a:cubicBezTo>
                  <a:cubicBezTo>
                    <a:pt x="9525" y="2132"/>
                    <a:pt x="7393" y="0"/>
                    <a:pt x="4762" y="0"/>
                  </a:cubicBezTo>
                  <a:cubicBezTo>
                    <a:pt x="2132" y="0"/>
                    <a:pt x="0" y="2132"/>
                    <a:pt x="0" y="4762"/>
                  </a:cubicBez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48" name="TextBox 48"/>
          <p:cNvSpPr txBox="1"/>
          <p:nvPr/>
        </p:nvSpPr>
        <p:spPr>
          <a:xfrm>
            <a:off x="6457950" y="183832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838950" y="1838325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星级系统设计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0496287" y="1857371"/>
            <a:ext cx="191013" cy="171690"/>
            <a:chOff x="10496287" y="1857371"/>
            <a:chExt cx="191013" cy="171690"/>
          </a:xfrm>
        </p:grpSpPr>
        <p:sp>
          <p:nvSpPr>
            <p:cNvPr id="50" name="Freeform 50"/>
            <p:cNvSpPr/>
            <p:nvPr/>
          </p:nvSpPr>
          <p:spPr>
            <a:xfrm>
              <a:off x="10606777" y="1952621"/>
              <a:ext cx="80523" cy="76440"/>
            </a:xfrm>
            <a:custGeom>
              <a:avLst/>
              <a:gdLst/>
              <a:ahLst/>
              <a:cxnLst/>
              <a:rect l="l" t="t" r="r" b="b"/>
              <a:pathLst>
                <a:path w="80523" h="76440">
                  <a:moveTo>
                    <a:pt x="40268" y="64936"/>
                  </a:moveTo>
                  <a:lnTo>
                    <a:pt x="19580" y="75776"/>
                  </a:lnTo>
                  <a:cubicBezTo>
                    <a:pt x="18328" y="76427"/>
                    <a:pt x="16815" y="76317"/>
                    <a:pt x="15671" y="75491"/>
                  </a:cubicBezTo>
                  <a:cubicBezTo>
                    <a:pt x="14526" y="74665"/>
                    <a:pt x="13945" y="73264"/>
                    <a:pt x="14169" y="71871"/>
                  </a:cubicBezTo>
                  <a:lnTo>
                    <a:pt x="18122" y="48906"/>
                  </a:lnTo>
                  <a:lnTo>
                    <a:pt x="1387" y="32647"/>
                  </a:lnTo>
                  <a:cubicBezTo>
                    <a:pt x="368" y="31661"/>
                    <a:pt x="0" y="30181"/>
                    <a:pt x="440" y="28833"/>
                  </a:cubicBezTo>
                  <a:cubicBezTo>
                    <a:pt x="880" y="27486"/>
                    <a:pt x="2050" y="26507"/>
                    <a:pt x="3454" y="26312"/>
                  </a:cubicBezTo>
                  <a:lnTo>
                    <a:pt x="26581" y="22960"/>
                  </a:lnTo>
                  <a:lnTo>
                    <a:pt x="36925" y="2071"/>
                  </a:lnTo>
                  <a:cubicBezTo>
                    <a:pt x="37556" y="802"/>
                    <a:pt x="38851" y="0"/>
                    <a:pt x="40268" y="0"/>
                  </a:cubicBezTo>
                  <a:cubicBezTo>
                    <a:pt x="41685" y="0"/>
                    <a:pt x="42980" y="802"/>
                    <a:pt x="43611" y="2071"/>
                  </a:cubicBezTo>
                  <a:lnTo>
                    <a:pt x="53955" y="22960"/>
                  </a:lnTo>
                  <a:lnTo>
                    <a:pt x="77082" y="26312"/>
                  </a:lnTo>
                  <a:cubicBezTo>
                    <a:pt x="78482" y="26514"/>
                    <a:pt x="79646" y="27493"/>
                    <a:pt x="80085" y="28837"/>
                  </a:cubicBezTo>
                  <a:cubicBezTo>
                    <a:pt x="80523" y="30181"/>
                    <a:pt x="80161" y="31658"/>
                    <a:pt x="79149" y="32647"/>
                  </a:cubicBezTo>
                  <a:lnTo>
                    <a:pt x="62414" y="48906"/>
                  </a:lnTo>
                  <a:lnTo>
                    <a:pt x="66357" y="71861"/>
                  </a:lnTo>
                  <a:cubicBezTo>
                    <a:pt x="66598" y="73258"/>
                    <a:pt x="66024" y="74670"/>
                    <a:pt x="64877" y="75502"/>
                  </a:cubicBezTo>
                  <a:cubicBezTo>
                    <a:pt x="63729" y="76333"/>
                    <a:pt x="62208" y="76440"/>
                    <a:pt x="60956" y="75776"/>
                  </a:cubicBezTo>
                  <a:lnTo>
                    <a:pt x="40268" y="64936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10496287" y="1952621"/>
              <a:ext cx="80523" cy="76440"/>
            </a:xfrm>
            <a:custGeom>
              <a:avLst/>
              <a:gdLst/>
              <a:ahLst/>
              <a:cxnLst/>
              <a:rect l="l" t="t" r="r" b="b"/>
              <a:pathLst>
                <a:path w="80523" h="76440">
                  <a:moveTo>
                    <a:pt x="40268" y="64936"/>
                  </a:moveTo>
                  <a:lnTo>
                    <a:pt x="19580" y="75776"/>
                  </a:lnTo>
                  <a:cubicBezTo>
                    <a:pt x="18328" y="76427"/>
                    <a:pt x="16815" y="76317"/>
                    <a:pt x="15671" y="75491"/>
                  </a:cubicBezTo>
                  <a:cubicBezTo>
                    <a:pt x="14526" y="74665"/>
                    <a:pt x="13945" y="73264"/>
                    <a:pt x="14169" y="71871"/>
                  </a:cubicBezTo>
                  <a:lnTo>
                    <a:pt x="18122" y="48906"/>
                  </a:lnTo>
                  <a:lnTo>
                    <a:pt x="1387" y="32647"/>
                  </a:lnTo>
                  <a:cubicBezTo>
                    <a:pt x="368" y="31661"/>
                    <a:pt x="0" y="30181"/>
                    <a:pt x="440" y="28833"/>
                  </a:cubicBezTo>
                  <a:cubicBezTo>
                    <a:pt x="880" y="27486"/>
                    <a:pt x="2050" y="26507"/>
                    <a:pt x="3454" y="26312"/>
                  </a:cubicBezTo>
                  <a:lnTo>
                    <a:pt x="26581" y="22960"/>
                  </a:lnTo>
                  <a:lnTo>
                    <a:pt x="36925" y="2071"/>
                  </a:lnTo>
                  <a:cubicBezTo>
                    <a:pt x="37556" y="802"/>
                    <a:pt x="38851" y="0"/>
                    <a:pt x="40268" y="0"/>
                  </a:cubicBezTo>
                  <a:cubicBezTo>
                    <a:pt x="41685" y="0"/>
                    <a:pt x="42980" y="802"/>
                    <a:pt x="43611" y="2071"/>
                  </a:cubicBezTo>
                  <a:lnTo>
                    <a:pt x="53955" y="22960"/>
                  </a:lnTo>
                  <a:lnTo>
                    <a:pt x="77082" y="26312"/>
                  </a:lnTo>
                  <a:cubicBezTo>
                    <a:pt x="78482" y="26514"/>
                    <a:pt x="79646" y="27493"/>
                    <a:pt x="80085" y="28837"/>
                  </a:cubicBezTo>
                  <a:cubicBezTo>
                    <a:pt x="80523" y="30181"/>
                    <a:pt x="80161" y="31658"/>
                    <a:pt x="79149" y="32647"/>
                  </a:cubicBezTo>
                  <a:lnTo>
                    <a:pt x="62414" y="48906"/>
                  </a:lnTo>
                  <a:lnTo>
                    <a:pt x="66357" y="71861"/>
                  </a:lnTo>
                  <a:cubicBezTo>
                    <a:pt x="66598" y="73258"/>
                    <a:pt x="66024" y="74670"/>
                    <a:pt x="64877" y="75502"/>
                  </a:cubicBezTo>
                  <a:cubicBezTo>
                    <a:pt x="63729" y="76333"/>
                    <a:pt x="62208" y="76440"/>
                    <a:pt x="60956" y="75776"/>
                  </a:cubicBezTo>
                  <a:lnTo>
                    <a:pt x="40268" y="64936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10551532" y="1857371"/>
              <a:ext cx="80523" cy="76440"/>
            </a:xfrm>
            <a:custGeom>
              <a:avLst/>
              <a:gdLst/>
              <a:ahLst/>
              <a:cxnLst/>
              <a:rect l="l" t="t" r="r" b="b"/>
              <a:pathLst>
                <a:path w="80523" h="76440">
                  <a:moveTo>
                    <a:pt x="40268" y="64936"/>
                  </a:moveTo>
                  <a:lnTo>
                    <a:pt x="19580" y="75776"/>
                  </a:lnTo>
                  <a:cubicBezTo>
                    <a:pt x="18328" y="76427"/>
                    <a:pt x="16815" y="76317"/>
                    <a:pt x="15671" y="75491"/>
                  </a:cubicBezTo>
                  <a:cubicBezTo>
                    <a:pt x="14526" y="74665"/>
                    <a:pt x="13945" y="73264"/>
                    <a:pt x="14169" y="71871"/>
                  </a:cubicBezTo>
                  <a:lnTo>
                    <a:pt x="18122" y="48906"/>
                  </a:lnTo>
                  <a:lnTo>
                    <a:pt x="1387" y="32647"/>
                  </a:lnTo>
                  <a:cubicBezTo>
                    <a:pt x="368" y="31661"/>
                    <a:pt x="0" y="30181"/>
                    <a:pt x="440" y="28833"/>
                  </a:cubicBezTo>
                  <a:cubicBezTo>
                    <a:pt x="880" y="27486"/>
                    <a:pt x="2050" y="26507"/>
                    <a:pt x="3454" y="26312"/>
                  </a:cubicBezTo>
                  <a:lnTo>
                    <a:pt x="26581" y="22960"/>
                  </a:lnTo>
                  <a:lnTo>
                    <a:pt x="36925" y="2071"/>
                  </a:lnTo>
                  <a:cubicBezTo>
                    <a:pt x="37556" y="802"/>
                    <a:pt x="38851" y="0"/>
                    <a:pt x="40268" y="0"/>
                  </a:cubicBezTo>
                  <a:cubicBezTo>
                    <a:pt x="41685" y="0"/>
                    <a:pt x="42980" y="802"/>
                    <a:pt x="43611" y="2071"/>
                  </a:cubicBezTo>
                  <a:lnTo>
                    <a:pt x="53955" y="22960"/>
                  </a:lnTo>
                  <a:lnTo>
                    <a:pt x="77082" y="26312"/>
                  </a:lnTo>
                  <a:cubicBezTo>
                    <a:pt x="78482" y="26514"/>
                    <a:pt x="79646" y="27493"/>
                    <a:pt x="80085" y="28837"/>
                  </a:cubicBezTo>
                  <a:cubicBezTo>
                    <a:pt x="80523" y="30181"/>
                    <a:pt x="80161" y="31658"/>
                    <a:pt x="79149" y="32647"/>
                  </a:cubicBezTo>
                  <a:lnTo>
                    <a:pt x="62414" y="48906"/>
                  </a:lnTo>
                  <a:lnTo>
                    <a:pt x="66357" y="71861"/>
                  </a:lnTo>
                  <a:cubicBezTo>
                    <a:pt x="66598" y="73258"/>
                    <a:pt x="66024" y="74670"/>
                    <a:pt x="64877" y="75502"/>
                  </a:cubicBezTo>
                  <a:cubicBezTo>
                    <a:pt x="63729" y="76333"/>
                    <a:pt x="62208" y="76440"/>
                    <a:pt x="60956" y="75776"/>
                  </a:cubicBezTo>
                  <a:lnTo>
                    <a:pt x="40268" y="64936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54" name="TextBox 54"/>
          <p:cNvSpPr txBox="1"/>
          <p:nvPr/>
        </p:nvSpPr>
        <p:spPr>
          <a:xfrm>
            <a:off x="6457950" y="231457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838950" y="2314575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合成系统设计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10515599" y="2338496"/>
            <a:ext cx="157041" cy="161688"/>
            <a:chOff x="10515599" y="2338496"/>
            <a:chExt cx="157041" cy="161688"/>
          </a:xfrm>
        </p:grpSpPr>
        <p:sp>
          <p:nvSpPr>
            <p:cNvPr id="56" name="Freeform 56"/>
            <p:cNvSpPr/>
            <p:nvPr/>
          </p:nvSpPr>
          <p:spPr>
            <a:xfrm>
              <a:off x="10563225" y="239077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57150"/>
                  </a:moveTo>
                  <a:lnTo>
                    <a:pt x="57150" y="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10582275" y="2338496"/>
              <a:ext cx="90365" cy="90379"/>
            </a:xfrm>
            <a:custGeom>
              <a:avLst/>
              <a:gdLst/>
              <a:ahLst/>
              <a:cxnLst/>
              <a:rect l="l" t="t" r="r" b="b"/>
              <a:pathLst>
                <a:path w="90365" h="90379">
                  <a:moveTo>
                    <a:pt x="0" y="23704"/>
                  </a:moveTo>
                  <a:lnTo>
                    <a:pt x="4410" y="18599"/>
                  </a:lnTo>
                  <a:cubicBezTo>
                    <a:pt x="23011" y="0"/>
                    <a:pt x="53168" y="2"/>
                    <a:pt x="71766" y="18603"/>
                  </a:cubicBezTo>
                  <a:cubicBezTo>
                    <a:pt x="90365" y="37204"/>
                    <a:pt x="90363" y="67361"/>
                    <a:pt x="71761" y="85959"/>
                  </a:cubicBezTo>
                  <a:lnTo>
                    <a:pt x="66675" y="90379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10515599" y="2409825"/>
              <a:ext cx="85726" cy="90359"/>
            </a:xfrm>
            <a:custGeom>
              <a:avLst/>
              <a:gdLst/>
              <a:ahLst/>
              <a:cxnLst/>
              <a:rect l="l" t="t" r="r" b="b"/>
              <a:pathLst>
                <a:path w="85726" h="90359">
                  <a:moveTo>
                    <a:pt x="85726" y="66675"/>
                  </a:moveTo>
                  <a:lnTo>
                    <a:pt x="81945" y="71761"/>
                  </a:lnTo>
                  <a:cubicBezTo>
                    <a:pt x="63138" y="90359"/>
                    <a:pt x="32867" y="90359"/>
                    <a:pt x="14060" y="71761"/>
                  </a:cubicBezTo>
                  <a:cubicBezTo>
                    <a:pt x="5063" y="62865"/>
                    <a:pt x="0" y="50738"/>
                    <a:pt x="0" y="38086"/>
                  </a:cubicBezTo>
                  <a:cubicBezTo>
                    <a:pt x="0" y="25433"/>
                    <a:pt x="5063" y="13306"/>
                    <a:pt x="14060" y="4410"/>
                  </a:cubicBezTo>
                  <a:lnTo>
                    <a:pt x="19051" y="0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60" name="TextBox 60"/>
          <p:cNvSpPr txBox="1"/>
          <p:nvPr/>
        </p:nvSpPr>
        <p:spPr>
          <a:xfrm>
            <a:off x="6457950" y="279082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838950" y="2790825"/>
            <a:ext cx="14382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终极编号卡系统</a:t>
            </a:r>
          </a:p>
        </p:txBody>
      </p:sp>
      <p:sp>
        <p:nvSpPr>
          <p:cNvPr id="62" name="Freeform 62"/>
          <p:cNvSpPr/>
          <p:nvPr/>
        </p:nvSpPr>
        <p:spPr>
          <a:xfrm>
            <a:off x="10506075" y="2838450"/>
            <a:ext cx="171450" cy="114300"/>
          </a:xfrm>
          <a:custGeom>
            <a:avLst/>
            <a:gdLst/>
            <a:ahLst/>
            <a:cxnLst/>
            <a:rect l="l" t="t" r="r" b="b"/>
            <a:pathLst>
              <a:path w="171450" h="114300">
                <a:moveTo>
                  <a:pt x="85725" y="0"/>
                </a:moveTo>
                <a:lnTo>
                  <a:pt x="123825" y="57150"/>
                </a:lnTo>
                <a:lnTo>
                  <a:pt x="171450" y="19050"/>
                </a:lnTo>
                <a:lnTo>
                  <a:pt x="152400" y="114300"/>
                </a:lnTo>
                <a:lnTo>
                  <a:pt x="19050" y="114300"/>
                </a:lnTo>
                <a:lnTo>
                  <a:pt x="0" y="19050"/>
                </a:lnTo>
                <a:lnTo>
                  <a:pt x="47625" y="57150"/>
                </a:lnTo>
                <a:lnTo>
                  <a:pt x="85725" y="0"/>
                </a:lnTo>
              </a:path>
            </a:pathLst>
          </a:custGeom>
          <a:noFill/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5524500" y="1238250"/>
            <a:ext cx="9525" cy="2476500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747712" y="4164806"/>
            <a:ext cx="30289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从产品定位到经济模型，九大章节完整呈现。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02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96E">
                  <a:alpha val="4000"/>
                </a:srgbClr>
              </a:gs>
              <a:gs pos="100000">
                <a:srgbClr val="C9A96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7700" y="2266950"/>
            <a:ext cx="1614773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0" b="1" dirty="0">
                <a:solidFill>
                  <a:srgbClr val="C9A96E">
                    <a:alphaMod val="15000"/>
                  </a:srgbClr>
                </a:solidFill>
                <a:latin typeface="Georgia"/>
                <a:ea typeface="KaiTi"/>
                <a:cs typeface="Georgia"/>
              </a:rPr>
              <a:t>01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3714750"/>
            <a:ext cx="762000" cy="28575"/>
          </a:xfrm>
          <a:prstGeom prst="rect">
            <a:avLst/>
          </a:prstGeom>
          <a:solidFill>
            <a:srgbClr val="C9A96E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16280" y="3802380"/>
            <a:ext cx="21076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E6E1D8"/>
                </a:solidFill>
                <a:latin typeface="Georgia"/>
                <a:ea typeface="KaiTi"/>
                <a:cs typeface="Georgia"/>
              </a:rPr>
              <a:t>项目定位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7235" y="4551998"/>
            <a:ext cx="421005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一款国风卡牌合成收集类抖音小游戏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7712" y="5593556"/>
            <a:ext cx="27289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不只是抽卡游戏，更是轻量历史学习产品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03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96E">
                  <a:alpha val="3000"/>
                </a:srgbClr>
              </a:gs>
              <a:gs pos="100000">
                <a:srgbClr val="C9A96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28003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C9A96E"/>
                </a:solidFill>
                <a:latin typeface="Georgia"/>
                <a:ea typeface="KaiTi"/>
                <a:cs typeface="Georgia"/>
              </a:rPr>
              <a:t>产品核心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704850"/>
            <a:ext cx="381000" cy="19050"/>
          </a:xfrm>
          <a:prstGeom prst="rect">
            <a:avLst/>
          </a:prstGeom>
          <a:solidFill>
            <a:srgbClr val="C9A96E">
              <a:alpha val="5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238750" cy="5143500"/>
          </a:xfrm>
          <a:prstGeom prst="roundRect">
            <a:avLst>
              <a:gd name="adj" fmla="val 2222"/>
            </a:avLst>
          </a:prstGeom>
          <a:solidFill>
            <a:srgbClr val="161B2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047750"/>
            <a:ext cx="5238750" cy="5143500"/>
          </a:xfrm>
          <a:prstGeom prst="roundRect">
            <a:avLst>
              <a:gd name="adj" fmla="val 2222"/>
            </a:avLst>
          </a:prstGeom>
          <a:noFill/>
          <a:ln w="9525">
            <a:solidFill>
              <a:srgbClr val="2A2520"/>
            </a:solidFill>
          </a:ln>
        </p:spPr>
      </p:sp>
      <p:grpSp>
        <p:nvGrpSpPr>
          <p:cNvPr id="14" name="Group 14"/>
          <p:cNvGrpSpPr/>
          <p:nvPr/>
        </p:nvGrpSpPr>
        <p:grpSpPr>
          <a:xfrm>
            <a:off x="901700" y="1454150"/>
            <a:ext cx="177800" cy="177800"/>
            <a:chOff x="901700" y="1454150"/>
            <a:chExt cx="177800" cy="177800"/>
          </a:xfrm>
        </p:grpSpPr>
        <p:sp>
          <p:nvSpPr>
            <p:cNvPr id="8" name="Freeform 8"/>
            <p:cNvSpPr/>
            <p:nvPr/>
          </p:nvSpPr>
          <p:spPr>
            <a:xfrm>
              <a:off x="901700" y="1454150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44450"/>
                  </a:moveTo>
                  <a:lnTo>
                    <a:pt x="0" y="22225"/>
                  </a:lnTo>
                  <a:cubicBezTo>
                    <a:pt x="0" y="9950"/>
                    <a:pt x="9950" y="0"/>
                    <a:pt x="22225" y="0"/>
                  </a:cubicBezTo>
                  <a:lnTo>
                    <a:pt x="44450" y="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01700" y="1587500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0"/>
                  </a:moveTo>
                  <a:lnTo>
                    <a:pt x="0" y="22225"/>
                  </a:lnTo>
                  <a:cubicBezTo>
                    <a:pt x="0" y="34500"/>
                    <a:pt x="9950" y="44450"/>
                    <a:pt x="22225" y="44450"/>
                  </a:cubicBezTo>
                  <a:lnTo>
                    <a:pt x="44450" y="4445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035050" y="1454150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0"/>
                  </a:moveTo>
                  <a:lnTo>
                    <a:pt x="22225" y="0"/>
                  </a:lnTo>
                  <a:cubicBezTo>
                    <a:pt x="34500" y="0"/>
                    <a:pt x="44450" y="9950"/>
                    <a:pt x="44450" y="22225"/>
                  </a:cubicBezTo>
                  <a:lnTo>
                    <a:pt x="44450" y="4445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35050" y="1587500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44450"/>
                  </a:moveTo>
                  <a:lnTo>
                    <a:pt x="22225" y="44450"/>
                  </a:lnTo>
                  <a:cubicBezTo>
                    <a:pt x="34500" y="44450"/>
                    <a:pt x="44450" y="34500"/>
                    <a:pt x="44450" y="22225"/>
                  </a:cubicBezTo>
                  <a:lnTo>
                    <a:pt x="44450" y="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957262" y="1543050"/>
              <a:ext cx="66675" cy="9525"/>
            </a:xfrm>
            <a:custGeom>
              <a:avLst/>
              <a:gdLst/>
              <a:ahLst/>
              <a:cxnLst/>
              <a:rect l="l" t="t" r="r" b="b"/>
              <a:pathLst>
                <a:path w="66675" h="9525">
                  <a:moveTo>
                    <a:pt x="0" y="0"/>
                  </a:moveTo>
                  <a:lnTo>
                    <a:pt x="66675" y="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90600" y="1509712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219200" y="145732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表面行为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2010" y="1870710"/>
            <a:ext cx="17907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玩家每日进行以下操作：</a:t>
            </a:r>
          </a:p>
        </p:txBody>
      </p:sp>
      <p:sp>
        <p:nvSpPr>
          <p:cNvPr id="17" name="Ellipse 17"/>
          <p:cNvSpPr/>
          <p:nvPr/>
        </p:nvSpPr>
        <p:spPr>
          <a:xfrm>
            <a:off x="962025" y="2438400"/>
            <a:ext cx="76200" cy="7620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25855" y="2378392"/>
            <a:ext cx="3943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抽卡</a:t>
            </a:r>
          </a:p>
        </p:txBody>
      </p:sp>
      <p:sp>
        <p:nvSpPr>
          <p:cNvPr id="19" name="Line 19"/>
          <p:cNvSpPr/>
          <p:nvPr/>
        </p:nvSpPr>
        <p:spPr>
          <a:xfrm>
            <a:off x="1285875" y="2647950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9525">
            <a:solidFill>
              <a:srgbClr val="C9A96E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962025" y="3009900"/>
            <a:ext cx="76200" cy="7620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25855" y="2949892"/>
            <a:ext cx="3943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升星</a:t>
            </a:r>
          </a:p>
        </p:txBody>
      </p:sp>
      <p:sp>
        <p:nvSpPr>
          <p:cNvPr id="22" name="Line 22"/>
          <p:cNvSpPr/>
          <p:nvPr/>
        </p:nvSpPr>
        <p:spPr>
          <a:xfrm>
            <a:off x="1285875" y="3219450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9525">
            <a:solidFill>
              <a:srgbClr val="C9A96E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962025" y="3581400"/>
            <a:ext cx="76200" cy="7620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125855" y="3521392"/>
            <a:ext cx="3943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合成</a:t>
            </a:r>
          </a:p>
        </p:txBody>
      </p:sp>
      <p:sp>
        <p:nvSpPr>
          <p:cNvPr id="25" name="Line 25"/>
          <p:cNvSpPr/>
          <p:nvPr/>
        </p:nvSpPr>
        <p:spPr>
          <a:xfrm>
            <a:off x="1285875" y="3790950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9525">
            <a:solidFill>
              <a:srgbClr val="C9A96E"/>
            </a:solidFill>
          </a:ln>
        </p:spPr>
      </p:sp>
      <p:sp>
        <p:nvSpPr>
          <p:cNvPr id="26" name="Ellipse 26"/>
          <p:cNvSpPr/>
          <p:nvPr/>
        </p:nvSpPr>
        <p:spPr>
          <a:xfrm>
            <a:off x="962025" y="4152900"/>
            <a:ext cx="76200" cy="7620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125855" y="4092892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图鉴收集</a:t>
            </a:r>
          </a:p>
        </p:txBody>
      </p:sp>
      <p:sp>
        <p:nvSpPr>
          <p:cNvPr id="28" name="Line 28"/>
          <p:cNvSpPr/>
          <p:nvPr/>
        </p:nvSpPr>
        <p:spPr>
          <a:xfrm>
            <a:off x="1285875" y="4362450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9525">
            <a:solidFill>
              <a:srgbClr val="C9A96E"/>
            </a:solidFill>
          </a:ln>
        </p:spPr>
      </p:sp>
      <p:sp>
        <p:nvSpPr>
          <p:cNvPr id="29" name="Ellipse 29"/>
          <p:cNvSpPr/>
          <p:nvPr/>
        </p:nvSpPr>
        <p:spPr>
          <a:xfrm>
            <a:off x="962025" y="4724400"/>
            <a:ext cx="76200" cy="7620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125855" y="4664392"/>
            <a:ext cx="9344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获取终极卡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009948" y="2947035"/>
            <a:ext cx="2666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C9A96E">
                    <a:alphaMod val="60000"/>
                  </a:srgbClr>
                </a:solidFill>
                <a:latin typeface="Georgia"/>
                <a:ea typeface="KaiTi"/>
                <a:cs typeface="Georgia"/>
              </a:rPr>
              <a:t>→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4033838" y="1443038"/>
            <a:ext cx="200025" cy="200025"/>
            <a:chOff x="4033838" y="1443038"/>
            <a:chExt cx="200025" cy="200025"/>
          </a:xfrm>
        </p:grpSpPr>
        <p:sp>
          <p:nvSpPr>
            <p:cNvPr id="32" name="Freeform 32"/>
            <p:cNvSpPr/>
            <p:nvPr/>
          </p:nvSpPr>
          <p:spPr>
            <a:xfrm>
              <a:off x="4033838" y="1443038"/>
              <a:ext cx="200025" cy="100012"/>
            </a:xfrm>
            <a:custGeom>
              <a:avLst/>
              <a:gdLst/>
              <a:ahLst/>
              <a:cxnLst/>
              <a:rect l="l" t="t" r="r" b="b"/>
              <a:pathLst>
                <a:path w="200025" h="100012">
                  <a:moveTo>
                    <a:pt x="0" y="100012"/>
                  </a:moveTo>
                  <a:lnTo>
                    <a:pt x="11113" y="100012"/>
                  </a:lnTo>
                  <a:moveTo>
                    <a:pt x="100012" y="0"/>
                  </a:moveTo>
                  <a:lnTo>
                    <a:pt x="100012" y="11112"/>
                  </a:lnTo>
                  <a:moveTo>
                    <a:pt x="188912" y="100012"/>
                  </a:moveTo>
                  <a:lnTo>
                    <a:pt x="200025" y="100012"/>
                  </a:lnTo>
                  <a:moveTo>
                    <a:pt x="28893" y="28892"/>
                  </a:moveTo>
                  <a:lnTo>
                    <a:pt x="36671" y="36671"/>
                  </a:lnTo>
                  <a:moveTo>
                    <a:pt x="171132" y="28892"/>
                  </a:moveTo>
                  <a:lnTo>
                    <a:pt x="163354" y="36671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4073576" y="1487488"/>
              <a:ext cx="120548" cy="155575"/>
            </a:xfrm>
            <a:custGeom>
              <a:avLst/>
              <a:gdLst/>
              <a:ahLst/>
              <a:cxnLst/>
              <a:rect l="l" t="t" r="r" b="b"/>
              <a:pathLst>
                <a:path w="120548" h="155575">
                  <a:moveTo>
                    <a:pt x="26937" y="100012"/>
                  </a:moveTo>
                  <a:cubicBezTo>
                    <a:pt x="7804" y="85663"/>
                    <a:pt x="0" y="60681"/>
                    <a:pt x="7563" y="37992"/>
                  </a:cubicBezTo>
                  <a:cubicBezTo>
                    <a:pt x="15126" y="15304"/>
                    <a:pt x="36358" y="0"/>
                    <a:pt x="60274" y="0"/>
                  </a:cubicBezTo>
                  <a:cubicBezTo>
                    <a:pt x="84190" y="0"/>
                    <a:pt x="105422" y="15304"/>
                    <a:pt x="112985" y="37992"/>
                  </a:cubicBezTo>
                  <a:cubicBezTo>
                    <a:pt x="120548" y="60681"/>
                    <a:pt x="112744" y="85663"/>
                    <a:pt x="93612" y="100012"/>
                  </a:cubicBezTo>
                  <a:cubicBezTo>
                    <a:pt x="84812" y="108723"/>
                    <a:pt x="80686" y="121102"/>
                    <a:pt x="82499" y="133350"/>
                  </a:cubicBezTo>
                  <a:cubicBezTo>
                    <a:pt x="82499" y="145625"/>
                    <a:pt x="72549" y="155575"/>
                    <a:pt x="60274" y="155575"/>
                  </a:cubicBezTo>
                  <a:cubicBezTo>
                    <a:pt x="48000" y="155575"/>
                    <a:pt x="38049" y="145625"/>
                    <a:pt x="38049" y="133350"/>
                  </a:cubicBezTo>
                  <a:cubicBezTo>
                    <a:pt x="39862" y="121102"/>
                    <a:pt x="35736" y="108723"/>
                    <a:pt x="26937" y="100012"/>
                  </a:cubicBezTo>
                </a:path>
              </a:pathLst>
            </a:custGeom>
            <a:noFill/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4108291" y="1598612"/>
              <a:ext cx="51118" cy="9525"/>
            </a:xfrm>
            <a:custGeom>
              <a:avLst/>
              <a:gdLst/>
              <a:ahLst/>
              <a:cxnLst/>
              <a:rect l="l" t="t" r="r" b="b"/>
              <a:pathLst>
                <a:path w="51118" h="9525">
                  <a:moveTo>
                    <a:pt x="0" y="0"/>
                  </a:moveTo>
                  <a:lnTo>
                    <a:pt x="51118" y="0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36" name="TextBox 36"/>
          <p:cNvSpPr txBox="1"/>
          <p:nvPr/>
        </p:nvSpPr>
        <p:spPr>
          <a:xfrm>
            <a:off x="4362450" y="145732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实际获得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986212" y="1926431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玩家在游戏过程中：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985260" y="2299335"/>
            <a:ext cx="11266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认识历史人物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985260" y="2632710"/>
            <a:ext cx="11266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理解历史事件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985260" y="2966085"/>
            <a:ext cx="11266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了解人物关系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985260" y="3299460"/>
            <a:ext cx="11266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串联历史脉络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985260" y="3632835"/>
            <a:ext cx="11266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学习冷门知识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381750" y="1047750"/>
            <a:ext cx="5238750" cy="5143500"/>
          </a:xfrm>
          <a:prstGeom prst="roundRect">
            <a:avLst>
              <a:gd name="adj" fmla="val 2222"/>
            </a:avLst>
          </a:prstGeom>
          <a:solidFill>
            <a:srgbClr val="161B22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6381750" y="1047750"/>
            <a:ext cx="5238750" cy="5143500"/>
          </a:xfrm>
          <a:prstGeom prst="roundRect">
            <a:avLst>
              <a:gd name="adj" fmla="val 2222"/>
            </a:avLst>
          </a:prstGeom>
          <a:noFill/>
          <a:ln w="9525">
            <a:solidFill>
              <a:srgbClr val="2A2520"/>
            </a:solidFill>
          </a:ln>
        </p:spPr>
      </p:sp>
      <p:grpSp>
        <p:nvGrpSpPr>
          <p:cNvPr id="47" name="Group 47"/>
          <p:cNvGrpSpPr/>
          <p:nvPr/>
        </p:nvGrpSpPr>
        <p:grpSpPr>
          <a:xfrm>
            <a:off x="6700838" y="1465262"/>
            <a:ext cx="200025" cy="163466"/>
            <a:chOff x="6700838" y="1465262"/>
            <a:chExt cx="200025" cy="163466"/>
          </a:xfrm>
        </p:grpSpPr>
        <p:sp>
          <p:nvSpPr>
            <p:cNvPr id="45" name="Freeform 45"/>
            <p:cNvSpPr/>
            <p:nvPr/>
          </p:nvSpPr>
          <p:spPr>
            <a:xfrm>
              <a:off x="6700838" y="1465262"/>
              <a:ext cx="200025" cy="163466"/>
            </a:xfrm>
            <a:custGeom>
              <a:avLst/>
              <a:gdLst/>
              <a:ahLst/>
              <a:cxnLst/>
              <a:rect l="l" t="t" r="r" b="b"/>
              <a:pathLst>
                <a:path w="200025" h="163466">
                  <a:moveTo>
                    <a:pt x="33338" y="0"/>
                  </a:moveTo>
                  <a:lnTo>
                    <a:pt x="166688" y="0"/>
                  </a:lnTo>
                  <a:lnTo>
                    <a:pt x="200025" y="55562"/>
                  </a:lnTo>
                  <a:lnTo>
                    <a:pt x="105569" y="161131"/>
                  </a:lnTo>
                  <a:cubicBezTo>
                    <a:pt x="104106" y="162625"/>
                    <a:pt x="102103" y="163466"/>
                    <a:pt x="100012" y="163466"/>
                  </a:cubicBezTo>
                  <a:cubicBezTo>
                    <a:pt x="97922" y="163466"/>
                    <a:pt x="95919" y="162625"/>
                    <a:pt x="94456" y="161131"/>
                  </a:cubicBezTo>
                  <a:lnTo>
                    <a:pt x="0" y="55562"/>
                  </a:lnTo>
                  <a:lnTo>
                    <a:pt x="33338" y="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6756400" y="1507490"/>
              <a:ext cx="22225" cy="35560"/>
            </a:xfrm>
            <a:custGeom>
              <a:avLst/>
              <a:gdLst/>
              <a:ahLst/>
              <a:cxnLst/>
              <a:rect l="l" t="t" r="r" b="b"/>
              <a:pathLst>
                <a:path w="22225" h="35560">
                  <a:moveTo>
                    <a:pt x="22225" y="35560"/>
                  </a:moveTo>
                  <a:lnTo>
                    <a:pt x="0" y="11112"/>
                  </a:lnTo>
                  <a:lnTo>
                    <a:pt x="6667" y="0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48" name="TextBox 48"/>
          <p:cNvSpPr txBox="1"/>
          <p:nvPr/>
        </p:nvSpPr>
        <p:spPr>
          <a:xfrm>
            <a:off x="7029450" y="145732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产品差异化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52260" y="1965960"/>
            <a:ext cx="32308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传统卡牌游戏中，低级卡往往只是消耗材料，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652260" y="2232660"/>
            <a:ext cx="990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缺少价值感。</a:t>
            </a:r>
          </a:p>
        </p:txBody>
      </p:sp>
      <p:sp>
        <p:nvSpPr>
          <p:cNvPr id="51" name="Rectangle 51"/>
          <p:cNvSpPr/>
          <p:nvPr/>
        </p:nvSpPr>
        <p:spPr>
          <a:xfrm>
            <a:off x="6667500" y="2667000"/>
            <a:ext cx="466725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50355" y="2902268"/>
            <a:ext cx="28696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《国风炼金卡牌》的设计重点是：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646545" y="3298508"/>
            <a:ext cx="18021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C9A96E"/>
                </a:solidFill>
                <a:latin typeface="Georgia"/>
                <a:ea typeface="KaiTi"/>
                <a:cs typeface="Georgia"/>
              </a:rPr>
              <a:t>每一张低级卡也是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646545" y="3631882"/>
            <a:ext cx="158210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C9A96E"/>
                </a:solidFill>
                <a:latin typeface="Georgia"/>
                <a:ea typeface="KaiTi"/>
                <a:cs typeface="Georgia"/>
              </a:rPr>
              <a:t>一个历史知识点</a:t>
            </a:r>
          </a:p>
        </p:txBody>
      </p:sp>
      <p:sp>
        <p:nvSpPr>
          <p:cNvPr id="55" name="Rectangle 55"/>
          <p:cNvSpPr/>
          <p:nvPr/>
        </p:nvSpPr>
        <p:spPr>
          <a:xfrm>
            <a:off x="6667500" y="4095750"/>
            <a:ext cx="466725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653212" y="4355306"/>
            <a:ext cx="27289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即使是一张 1 级、2 级卡，也必须具备：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652260" y="4680585"/>
            <a:ext cx="8065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人物画像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652260" y="4966335"/>
            <a:ext cx="8065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事件简介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652260" y="5252085"/>
            <a:ext cx="6465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小故事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652260" y="5537835"/>
            <a:ext cx="8065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历史标签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652260" y="5823585"/>
            <a:ext cx="8065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合成线索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04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96E">
                  <a:alpha val="4000"/>
                </a:srgbClr>
              </a:gs>
              <a:gs pos="100000">
                <a:srgbClr val="C9A96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7700" y="2266950"/>
            <a:ext cx="1614773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0" b="1" dirty="0">
                <a:solidFill>
                  <a:srgbClr val="C9A96E">
                    <a:alphaMod val="15000"/>
                  </a:srgbClr>
                </a:solidFill>
                <a:latin typeface="Georgia"/>
                <a:ea typeface="KaiTi"/>
                <a:cs typeface="Georgia"/>
              </a:rPr>
              <a:t>02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3714750"/>
            <a:ext cx="762000" cy="28575"/>
          </a:xfrm>
          <a:prstGeom prst="rect">
            <a:avLst/>
          </a:prstGeom>
          <a:solidFill>
            <a:srgbClr val="C9A96E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16280" y="3802380"/>
            <a:ext cx="311581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E6E1D8"/>
                </a:solidFill>
                <a:latin typeface="Georgia"/>
                <a:ea typeface="KaiTi"/>
                <a:cs typeface="Georgia"/>
              </a:rPr>
              <a:t>核心玩法设计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7235" y="4551998"/>
            <a:ext cx="294889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每日循环 + 十大核心系统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05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96E">
                  <a:alpha val="3000"/>
                </a:srgbClr>
              </a:gs>
              <a:gs pos="100000">
                <a:srgbClr val="C9A96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280035"/>
            <a:ext cx="309295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C9A96E"/>
                </a:solidFill>
                <a:latin typeface="Georgia"/>
                <a:ea typeface="KaiTi"/>
                <a:cs typeface="Georgia"/>
              </a:rPr>
              <a:t>玩家每日基础循环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704850"/>
            <a:ext cx="381000" cy="19050"/>
          </a:xfrm>
          <a:prstGeom prst="rect">
            <a:avLst/>
          </a:prstGeom>
          <a:solidFill>
            <a:srgbClr val="C9A96E">
              <a:alpha val="5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4191000" y="952500"/>
            <a:ext cx="3810000" cy="45720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4288">
            <a:solidFill>
              <a:srgbClr val="C9A96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718810" y="1102042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每日登录</a:t>
            </a:r>
          </a:p>
        </p:txBody>
      </p:sp>
      <p:sp>
        <p:nvSpPr>
          <p:cNvPr id="8" name="Line 8"/>
          <p:cNvSpPr/>
          <p:nvPr/>
        </p:nvSpPr>
        <p:spPr>
          <a:xfrm>
            <a:off x="6096000" y="1409700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14288">
            <a:solidFill>
              <a:srgbClr val="C9A96E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4191000" y="1638300"/>
            <a:ext cx="3810000" cy="45720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358765" y="1787842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获得免费抽卡次数</a:t>
            </a:r>
          </a:p>
        </p:txBody>
      </p:sp>
      <p:sp>
        <p:nvSpPr>
          <p:cNvPr id="11" name="Line 11"/>
          <p:cNvSpPr/>
          <p:nvPr/>
        </p:nvSpPr>
        <p:spPr>
          <a:xfrm>
            <a:off x="6096000" y="2095500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9525">
            <a:solidFill>
              <a:srgbClr val="8B868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191000" y="2324100"/>
            <a:ext cx="3810000" cy="45720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156240" y="2473642"/>
            <a:ext cx="18795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抽取 1-2 级基础历史卡</a:t>
            </a:r>
          </a:p>
        </p:txBody>
      </p:sp>
      <p:sp>
        <p:nvSpPr>
          <p:cNvPr id="14" name="Line 14"/>
          <p:cNvSpPr/>
          <p:nvPr/>
        </p:nvSpPr>
        <p:spPr>
          <a:xfrm>
            <a:off x="6096000" y="2781300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9525">
            <a:solidFill>
              <a:srgbClr val="8B868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191000" y="3009900"/>
            <a:ext cx="3810000" cy="45720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628799" y="3159442"/>
            <a:ext cx="9344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同名卡升星</a:t>
            </a:r>
          </a:p>
        </p:txBody>
      </p:sp>
      <p:sp>
        <p:nvSpPr>
          <p:cNvPr id="17" name="Line 17"/>
          <p:cNvSpPr/>
          <p:nvPr/>
        </p:nvSpPr>
        <p:spPr>
          <a:xfrm>
            <a:off x="6096000" y="3467100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9525">
            <a:solidFill>
              <a:srgbClr val="8B868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191000" y="3695700"/>
            <a:ext cx="3810000" cy="45720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358765" y="3845242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跨卡合成更高级卡</a:t>
            </a:r>
          </a:p>
        </p:txBody>
      </p:sp>
      <p:sp>
        <p:nvSpPr>
          <p:cNvPr id="20" name="Line 20"/>
          <p:cNvSpPr/>
          <p:nvPr/>
        </p:nvSpPr>
        <p:spPr>
          <a:xfrm>
            <a:off x="6096000" y="4152900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9525">
            <a:solidFill>
              <a:srgbClr val="8B868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191000" y="4381500"/>
            <a:ext cx="3810000" cy="45720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178742" y="4531042"/>
            <a:ext cx="18345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解锁图鉴与历史小故事</a:t>
            </a:r>
          </a:p>
        </p:txBody>
      </p:sp>
      <p:sp>
        <p:nvSpPr>
          <p:cNvPr id="23" name="Line 23"/>
          <p:cNvSpPr/>
          <p:nvPr/>
        </p:nvSpPr>
        <p:spPr>
          <a:xfrm>
            <a:off x="6096000" y="4838700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9525">
            <a:solidFill>
              <a:srgbClr val="8B868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4191000" y="5067300"/>
            <a:ext cx="3810000" cy="45720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4288">
            <a:solidFill>
              <a:srgbClr val="C41E3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025723" y="5216842"/>
            <a:ext cx="21405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冲击 12 级终极历史事件卡</a:t>
            </a:r>
          </a:p>
        </p:txBody>
      </p:sp>
      <p:sp>
        <p:nvSpPr>
          <p:cNvPr id="26" name="Line 26"/>
          <p:cNvSpPr/>
          <p:nvPr/>
        </p:nvSpPr>
        <p:spPr>
          <a:xfrm>
            <a:off x="6096000" y="5524500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9525">
            <a:solidFill>
              <a:srgbClr val="C41E3A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4191000" y="5753100"/>
            <a:ext cx="3810000" cy="45720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4548664" y="5902642"/>
            <a:ext cx="30946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分享、看广告、完成任务获得更多机会</a:t>
            </a:r>
          </a:p>
        </p:txBody>
      </p:sp>
      <p:sp>
        <p:nvSpPr>
          <p:cNvPr id="29" name="Freeform 29"/>
          <p:cNvSpPr/>
          <p:nvPr/>
        </p:nvSpPr>
        <p:spPr>
          <a:xfrm>
            <a:off x="8191500" y="952500"/>
            <a:ext cx="762000" cy="5029200"/>
          </a:xfrm>
          <a:custGeom>
            <a:avLst/>
            <a:gdLst/>
            <a:ahLst/>
            <a:cxnLst/>
            <a:rect l="l" t="t" r="r" b="b"/>
            <a:pathLst>
              <a:path w="762000" h="5029200">
                <a:moveTo>
                  <a:pt x="0" y="5029200"/>
                </a:moveTo>
                <a:cubicBezTo>
                  <a:pt x="571500" y="5029200"/>
                  <a:pt x="762000" y="1905000"/>
                  <a:pt x="762000" y="228600"/>
                </a:cubicBezTo>
                <a:cubicBezTo>
                  <a:pt x="762000" y="0"/>
                  <a:pt x="190500" y="0"/>
                  <a:pt x="190500" y="228600"/>
                </a:cubicBezTo>
              </a:path>
            </a:pathLst>
          </a:custGeom>
          <a:noFill/>
          <a:ln w="9525">
            <a:solidFill>
              <a:srgbClr val="8B8680"/>
            </a:solidFill>
            <a:prstDash val="dash"/>
          </a:ln>
        </p:spPr>
      </p:sp>
      <p:sp>
        <p:nvSpPr>
          <p:cNvPr id="30" name="TextBox 30"/>
          <p:cNvSpPr txBox="1"/>
          <p:nvPr/>
        </p:nvSpPr>
        <p:spPr>
          <a:xfrm>
            <a:off x="9130665" y="3410902"/>
            <a:ext cx="3067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次日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30665" y="3601402"/>
            <a:ext cx="3067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继续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06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96E">
                  <a:alpha val="3000"/>
                </a:srgbClr>
              </a:gs>
              <a:gs pos="100000">
                <a:srgbClr val="C9A96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28003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C9A96E"/>
                </a:solidFill>
                <a:latin typeface="Georgia"/>
                <a:ea typeface="KaiTi"/>
                <a:cs typeface="Georgia"/>
              </a:rPr>
              <a:t>十大核心系统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704850"/>
            <a:ext cx="381000" cy="19050"/>
          </a:xfrm>
          <a:prstGeom prst="rect">
            <a:avLst/>
          </a:prstGeom>
          <a:solidFill>
            <a:srgbClr val="C9A96E">
              <a:alpha val="5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7712" y="973931"/>
            <a:ext cx="34790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完整的游戏系统矩阵支撑从抽卡到终极收藏的全链路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3350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790575" y="1647825"/>
            <a:ext cx="171450" cy="171450"/>
            <a:chOff x="790575" y="1647825"/>
            <a:chExt cx="171450" cy="171450"/>
          </a:xfrm>
        </p:grpSpPr>
        <p:sp>
          <p:nvSpPr>
            <p:cNvPr id="8" name="Freeform 8"/>
            <p:cNvSpPr/>
            <p:nvPr/>
          </p:nvSpPr>
          <p:spPr>
            <a:xfrm>
              <a:off x="790575" y="16478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0" y="19050"/>
                  </a:moveTo>
                  <a:cubicBezTo>
                    <a:pt x="0" y="8529"/>
                    <a:pt x="8529" y="0"/>
                    <a:pt x="19050" y="0"/>
                  </a:cubicBezTo>
                  <a:lnTo>
                    <a:pt x="152400" y="0"/>
                  </a:lnTo>
                  <a:cubicBezTo>
                    <a:pt x="162921" y="0"/>
                    <a:pt x="171450" y="8529"/>
                    <a:pt x="171450" y="19050"/>
                  </a:cubicBezTo>
                  <a:lnTo>
                    <a:pt x="171450" y="152400"/>
                  </a:lnTo>
                  <a:cubicBezTo>
                    <a:pt x="171450" y="162921"/>
                    <a:pt x="162921" y="171450"/>
                    <a:pt x="152400" y="171450"/>
                  </a:cubicBezTo>
                  <a:lnTo>
                    <a:pt x="19050" y="171450"/>
                  </a:lnTo>
                  <a:cubicBezTo>
                    <a:pt x="8529" y="171450"/>
                    <a:pt x="0" y="162921"/>
                    <a:pt x="0" y="152400"/>
                  </a:cubicBezTo>
                  <a:lnTo>
                    <a:pt x="0" y="1905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38200" y="16954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762"/>
                  </a:moveTo>
                  <a:cubicBezTo>
                    <a:pt x="0" y="7393"/>
                    <a:pt x="2132" y="9525"/>
                    <a:pt x="4762" y="9525"/>
                  </a:cubicBezTo>
                  <a:cubicBezTo>
                    <a:pt x="7393" y="9525"/>
                    <a:pt x="9525" y="7393"/>
                    <a:pt x="9525" y="4762"/>
                  </a:cubicBezTo>
                  <a:cubicBezTo>
                    <a:pt x="9525" y="2132"/>
                    <a:pt x="7393" y="0"/>
                    <a:pt x="4762" y="0"/>
                  </a:cubicBezTo>
                  <a:cubicBezTo>
                    <a:pt x="2132" y="0"/>
                    <a:pt x="0" y="2132"/>
                    <a:pt x="0" y="4762"/>
                  </a:cubicBezTo>
                </a:path>
              </a:pathLst>
            </a:custGeom>
            <a:noFill/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904875" y="16954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762"/>
                  </a:moveTo>
                  <a:cubicBezTo>
                    <a:pt x="0" y="7393"/>
                    <a:pt x="2132" y="9525"/>
                    <a:pt x="4762" y="9525"/>
                  </a:cubicBezTo>
                  <a:cubicBezTo>
                    <a:pt x="7393" y="9525"/>
                    <a:pt x="9525" y="7393"/>
                    <a:pt x="9525" y="4762"/>
                  </a:cubicBezTo>
                  <a:cubicBezTo>
                    <a:pt x="9525" y="2132"/>
                    <a:pt x="7393" y="0"/>
                    <a:pt x="4762" y="0"/>
                  </a:cubicBezTo>
                  <a:cubicBezTo>
                    <a:pt x="2132" y="0"/>
                    <a:pt x="0" y="2132"/>
                    <a:pt x="0" y="4762"/>
                  </a:cubicBezTo>
                </a:path>
              </a:pathLst>
            </a:custGeom>
            <a:noFill/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904875" y="176212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762"/>
                  </a:moveTo>
                  <a:cubicBezTo>
                    <a:pt x="0" y="7393"/>
                    <a:pt x="2132" y="9525"/>
                    <a:pt x="4762" y="9525"/>
                  </a:cubicBezTo>
                  <a:cubicBezTo>
                    <a:pt x="7393" y="9525"/>
                    <a:pt x="9525" y="7393"/>
                    <a:pt x="9525" y="4762"/>
                  </a:cubicBezTo>
                  <a:cubicBezTo>
                    <a:pt x="9525" y="2132"/>
                    <a:pt x="7393" y="0"/>
                    <a:pt x="4762" y="0"/>
                  </a:cubicBezTo>
                  <a:cubicBezTo>
                    <a:pt x="2132" y="0"/>
                    <a:pt x="0" y="2132"/>
                    <a:pt x="0" y="4762"/>
                  </a:cubicBezTo>
                </a:path>
              </a:pathLst>
            </a:custGeom>
            <a:noFill/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838200" y="176212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762"/>
                  </a:moveTo>
                  <a:cubicBezTo>
                    <a:pt x="0" y="7393"/>
                    <a:pt x="2132" y="9525"/>
                    <a:pt x="4762" y="9525"/>
                  </a:cubicBezTo>
                  <a:cubicBezTo>
                    <a:pt x="7393" y="9525"/>
                    <a:pt x="9525" y="7393"/>
                    <a:pt x="9525" y="4762"/>
                  </a:cubicBezTo>
                  <a:cubicBezTo>
                    <a:pt x="9525" y="2132"/>
                    <a:pt x="7393" y="0"/>
                    <a:pt x="4762" y="0"/>
                  </a:cubicBezTo>
                  <a:cubicBezTo>
                    <a:pt x="2132" y="0"/>
                    <a:pt x="0" y="2132"/>
                    <a:pt x="0" y="4762"/>
                  </a:cubicBez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078230" y="16449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抽卡系统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857500" y="133350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grpSp>
        <p:nvGrpSpPr>
          <p:cNvPr id="18" name="Group 18"/>
          <p:cNvGrpSpPr/>
          <p:nvPr/>
        </p:nvGrpSpPr>
        <p:grpSpPr>
          <a:xfrm>
            <a:off x="3086100" y="1676400"/>
            <a:ext cx="152400" cy="114300"/>
            <a:chOff x="3086100" y="1676400"/>
            <a:chExt cx="152400" cy="114300"/>
          </a:xfrm>
        </p:grpSpPr>
        <p:sp>
          <p:nvSpPr>
            <p:cNvPr id="16" name="Freeform 16"/>
            <p:cNvSpPr/>
            <p:nvPr/>
          </p:nvSpPr>
          <p:spPr>
            <a:xfrm>
              <a:off x="3086100" y="1676400"/>
              <a:ext cx="152400" cy="76200"/>
            </a:xfrm>
            <a:custGeom>
              <a:avLst/>
              <a:gdLst/>
              <a:ahLst/>
              <a:cxnLst/>
              <a:rect l="l" t="t" r="r" b="b"/>
              <a:pathLst>
                <a:path w="1524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152400" y="38100"/>
                  </a:lnTo>
                  <a:lnTo>
                    <a:pt x="76200" y="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086100" y="1752600"/>
              <a:ext cx="152400" cy="38100"/>
            </a:xfrm>
            <a:custGeom>
              <a:avLst/>
              <a:gdLst/>
              <a:ahLst/>
              <a:cxnLst/>
              <a:rect l="l" t="t" r="r" b="b"/>
              <a:pathLst>
                <a:path w="152400" h="38100">
                  <a:moveTo>
                    <a:pt x="0" y="0"/>
                  </a:moveTo>
                  <a:lnTo>
                    <a:pt x="76200" y="38100"/>
                  </a:lnTo>
                  <a:lnTo>
                    <a:pt x="152400" y="0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3364230" y="16449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卡牌库存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143500" y="133350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grpSp>
        <p:nvGrpSpPr>
          <p:cNvPr id="24" name="Group 24"/>
          <p:cNvGrpSpPr/>
          <p:nvPr/>
        </p:nvGrpSpPr>
        <p:grpSpPr>
          <a:xfrm>
            <a:off x="5352787" y="1647821"/>
            <a:ext cx="191013" cy="171690"/>
            <a:chOff x="5352787" y="1647821"/>
            <a:chExt cx="191013" cy="171690"/>
          </a:xfrm>
        </p:grpSpPr>
        <p:sp>
          <p:nvSpPr>
            <p:cNvPr id="21" name="Freeform 21"/>
            <p:cNvSpPr/>
            <p:nvPr/>
          </p:nvSpPr>
          <p:spPr>
            <a:xfrm>
              <a:off x="5463277" y="1743071"/>
              <a:ext cx="80523" cy="76440"/>
            </a:xfrm>
            <a:custGeom>
              <a:avLst/>
              <a:gdLst/>
              <a:ahLst/>
              <a:cxnLst/>
              <a:rect l="l" t="t" r="r" b="b"/>
              <a:pathLst>
                <a:path w="80523" h="76440">
                  <a:moveTo>
                    <a:pt x="40268" y="64936"/>
                  </a:moveTo>
                  <a:lnTo>
                    <a:pt x="19580" y="75776"/>
                  </a:lnTo>
                  <a:cubicBezTo>
                    <a:pt x="18328" y="76427"/>
                    <a:pt x="16815" y="76317"/>
                    <a:pt x="15671" y="75491"/>
                  </a:cubicBezTo>
                  <a:cubicBezTo>
                    <a:pt x="14526" y="74665"/>
                    <a:pt x="13945" y="73264"/>
                    <a:pt x="14169" y="71871"/>
                  </a:cubicBezTo>
                  <a:lnTo>
                    <a:pt x="18122" y="48906"/>
                  </a:lnTo>
                  <a:lnTo>
                    <a:pt x="1387" y="32647"/>
                  </a:lnTo>
                  <a:cubicBezTo>
                    <a:pt x="368" y="31661"/>
                    <a:pt x="0" y="30181"/>
                    <a:pt x="440" y="28833"/>
                  </a:cubicBezTo>
                  <a:cubicBezTo>
                    <a:pt x="880" y="27486"/>
                    <a:pt x="2050" y="26507"/>
                    <a:pt x="3454" y="26312"/>
                  </a:cubicBezTo>
                  <a:lnTo>
                    <a:pt x="26581" y="22960"/>
                  </a:lnTo>
                  <a:lnTo>
                    <a:pt x="36925" y="2071"/>
                  </a:lnTo>
                  <a:cubicBezTo>
                    <a:pt x="37556" y="802"/>
                    <a:pt x="38851" y="0"/>
                    <a:pt x="40268" y="0"/>
                  </a:cubicBezTo>
                  <a:cubicBezTo>
                    <a:pt x="41685" y="0"/>
                    <a:pt x="42980" y="802"/>
                    <a:pt x="43611" y="2071"/>
                  </a:cubicBezTo>
                  <a:lnTo>
                    <a:pt x="53955" y="22960"/>
                  </a:lnTo>
                  <a:lnTo>
                    <a:pt x="77082" y="26312"/>
                  </a:lnTo>
                  <a:cubicBezTo>
                    <a:pt x="78482" y="26514"/>
                    <a:pt x="79646" y="27493"/>
                    <a:pt x="80085" y="28837"/>
                  </a:cubicBezTo>
                  <a:cubicBezTo>
                    <a:pt x="80523" y="30181"/>
                    <a:pt x="80161" y="31658"/>
                    <a:pt x="79149" y="32647"/>
                  </a:cubicBezTo>
                  <a:lnTo>
                    <a:pt x="62414" y="48906"/>
                  </a:lnTo>
                  <a:lnTo>
                    <a:pt x="66357" y="71861"/>
                  </a:lnTo>
                  <a:cubicBezTo>
                    <a:pt x="66598" y="73258"/>
                    <a:pt x="66024" y="74670"/>
                    <a:pt x="64877" y="75502"/>
                  </a:cubicBezTo>
                  <a:cubicBezTo>
                    <a:pt x="63729" y="76333"/>
                    <a:pt x="62208" y="76440"/>
                    <a:pt x="60956" y="75776"/>
                  </a:cubicBezTo>
                  <a:lnTo>
                    <a:pt x="40268" y="64936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5352787" y="1743071"/>
              <a:ext cx="80523" cy="76440"/>
            </a:xfrm>
            <a:custGeom>
              <a:avLst/>
              <a:gdLst/>
              <a:ahLst/>
              <a:cxnLst/>
              <a:rect l="l" t="t" r="r" b="b"/>
              <a:pathLst>
                <a:path w="80523" h="76440">
                  <a:moveTo>
                    <a:pt x="40268" y="64936"/>
                  </a:moveTo>
                  <a:lnTo>
                    <a:pt x="19580" y="75776"/>
                  </a:lnTo>
                  <a:cubicBezTo>
                    <a:pt x="18328" y="76427"/>
                    <a:pt x="16815" y="76317"/>
                    <a:pt x="15671" y="75491"/>
                  </a:cubicBezTo>
                  <a:cubicBezTo>
                    <a:pt x="14526" y="74665"/>
                    <a:pt x="13945" y="73264"/>
                    <a:pt x="14169" y="71871"/>
                  </a:cubicBezTo>
                  <a:lnTo>
                    <a:pt x="18122" y="48906"/>
                  </a:lnTo>
                  <a:lnTo>
                    <a:pt x="1387" y="32647"/>
                  </a:lnTo>
                  <a:cubicBezTo>
                    <a:pt x="368" y="31661"/>
                    <a:pt x="0" y="30181"/>
                    <a:pt x="440" y="28833"/>
                  </a:cubicBezTo>
                  <a:cubicBezTo>
                    <a:pt x="880" y="27486"/>
                    <a:pt x="2050" y="26507"/>
                    <a:pt x="3454" y="26312"/>
                  </a:cubicBezTo>
                  <a:lnTo>
                    <a:pt x="26581" y="22960"/>
                  </a:lnTo>
                  <a:lnTo>
                    <a:pt x="36925" y="2071"/>
                  </a:lnTo>
                  <a:cubicBezTo>
                    <a:pt x="37556" y="802"/>
                    <a:pt x="38851" y="0"/>
                    <a:pt x="40268" y="0"/>
                  </a:cubicBezTo>
                  <a:cubicBezTo>
                    <a:pt x="41685" y="0"/>
                    <a:pt x="42980" y="802"/>
                    <a:pt x="43611" y="2071"/>
                  </a:cubicBezTo>
                  <a:lnTo>
                    <a:pt x="53955" y="22960"/>
                  </a:lnTo>
                  <a:lnTo>
                    <a:pt x="77082" y="26312"/>
                  </a:lnTo>
                  <a:cubicBezTo>
                    <a:pt x="78482" y="26514"/>
                    <a:pt x="79646" y="27493"/>
                    <a:pt x="80085" y="28837"/>
                  </a:cubicBezTo>
                  <a:cubicBezTo>
                    <a:pt x="80523" y="30181"/>
                    <a:pt x="80161" y="31658"/>
                    <a:pt x="79149" y="32647"/>
                  </a:cubicBezTo>
                  <a:lnTo>
                    <a:pt x="62414" y="48906"/>
                  </a:lnTo>
                  <a:lnTo>
                    <a:pt x="66357" y="71861"/>
                  </a:lnTo>
                  <a:cubicBezTo>
                    <a:pt x="66598" y="73258"/>
                    <a:pt x="66024" y="74670"/>
                    <a:pt x="64877" y="75502"/>
                  </a:cubicBezTo>
                  <a:cubicBezTo>
                    <a:pt x="63729" y="76333"/>
                    <a:pt x="62208" y="76440"/>
                    <a:pt x="60956" y="75776"/>
                  </a:cubicBezTo>
                  <a:lnTo>
                    <a:pt x="40268" y="64936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408032" y="1647821"/>
              <a:ext cx="80523" cy="76440"/>
            </a:xfrm>
            <a:custGeom>
              <a:avLst/>
              <a:gdLst/>
              <a:ahLst/>
              <a:cxnLst/>
              <a:rect l="l" t="t" r="r" b="b"/>
              <a:pathLst>
                <a:path w="80523" h="76440">
                  <a:moveTo>
                    <a:pt x="40268" y="64936"/>
                  </a:moveTo>
                  <a:lnTo>
                    <a:pt x="19580" y="75776"/>
                  </a:lnTo>
                  <a:cubicBezTo>
                    <a:pt x="18328" y="76427"/>
                    <a:pt x="16815" y="76317"/>
                    <a:pt x="15671" y="75491"/>
                  </a:cubicBezTo>
                  <a:cubicBezTo>
                    <a:pt x="14526" y="74665"/>
                    <a:pt x="13945" y="73264"/>
                    <a:pt x="14169" y="71871"/>
                  </a:cubicBezTo>
                  <a:lnTo>
                    <a:pt x="18122" y="48906"/>
                  </a:lnTo>
                  <a:lnTo>
                    <a:pt x="1387" y="32647"/>
                  </a:lnTo>
                  <a:cubicBezTo>
                    <a:pt x="368" y="31661"/>
                    <a:pt x="0" y="30181"/>
                    <a:pt x="440" y="28833"/>
                  </a:cubicBezTo>
                  <a:cubicBezTo>
                    <a:pt x="880" y="27486"/>
                    <a:pt x="2050" y="26507"/>
                    <a:pt x="3454" y="26312"/>
                  </a:cubicBezTo>
                  <a:lnTo>
                    <a:pt x="26581" y="22960"/>
                  </a:lnTo>
                  <a:lnTo>
                    <a:pt x="36925" y="2071"/>
                  </a:lnTo>
                  <a:cubicBezTo>
                    <a:pt x="37556" y="802"/>
                    <a:pt x="38851" y="0"/>
                    <a:pt x="40268" y="0"/>
                  </a:cubicBezTo>
                  <a:cubicBezTo>
                    <a:pt x="41685" y="0"/>
                    <a:pt x="42980" y="802"/>
                    <a:pt x="43611" y="2071"/>
                  </a:cubicBezTo>
                  <a:lnTo>
                    <a:pt x="53955" y="22960"/>
                  </a:lnTo>
                  <a:lnTo>
                    <a:pt x="77082" y="26312"/>
                  </a:lnTo>
                  <a:cubicBezTo>
                    <a:pt x="78482" y="26514"/>
                    <a:pt x="79646" y="27493"/>
                    <a:pt x="80085" y="28837"/>
                  </a:cubicBezTo>
                  <a:cubicBezTo>
                    <a:pt x="80523" y="30181"/>
                    <a:pt x="80161" y="31658"/>
                    <a:pt x="79149" y="32647"/>
                  </a:cubicBezTo>
                  <a:lnTo>
                    <a:pt x="62414" y="48906"/>
                  </a:lnTo>
                  <a:lnTo>
                    <a:pt x="66357" y="71861"/>
                  </a:lnTo>
                  <a:cubicBezTo>
                    <a:pt x="66598" y="73258"/>
                    <a:pt x="66024" y="74670"/>
                    <a:pt x="64877" y="75502"/>
                  </a:cubicBezTo>
                  <a:cubicBezTo>
                    <a:pt x="63729" y="76333"/>
                    <a:pt x="62208" y="76440"/>
                    <a:pt x="60956" y="75776"/>
                  </a:cubicBezTo>
                  <a:lnTo>
                    <a:pt x="40268" y="64936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5650230" y="16449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同名升星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429500" y="133350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grpSp>
        <p:nvGrpSpPr>
          <p:cNvPr id="30" name="Group 30"/>
          <p:cNvGrpSpPr/>
          <p:nvPr/>
        </p:nvGrpSpPr>
        <p:grpSpPr>
          <a:xfrm>
            <a:off x="7658099" y="1652696"/>
            <a:ext cx="157041" cy="161688"/>
            <a:chOff x="7658099" y="1652696"/>
            <a:chExt cx="157041" cy="161688"/>
          </a:xfrm>
        </p:grpSpPr>
        <p:sp>
          <p:nvSpPr>
            <p:cNvPr id="27" name="Freeform 27"/>
            <p:cNvSpPr/>
            <p:nvPr/>
          </p:nvSpPr>
          <p:spPr>
            <a:xfrm>
              <a:off x="7705725" y="170497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57150"/>
                  </a:moveTo>
                  <a:lnTo>
                    <a:pt x="57150" y="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7724775" y="1652696"/>
              <a:ext cx="90365" cy="90379"/>
            </a:xfrm>
            <a:custGeom>
              <a:avLst/>
              <a:gdLst/>
              <a:ahLst/>
              <a:cxnLst/>
              <a:rect l="l" t="t" r="r" b="b"/>
              <a:pathLst>
                <a:path w="90365" h="90379">
                  <a:moveTo>
                    <a:pt x="0" y="23704"/>
                  </a:moveTo>
                  <a:lnTo>
                    <a:pt x="4410" y="18599"/>
                  </a:lnTo>
                  <a:cubicBezTo>
                    <a:pt x="23011" y="0"/>
                    <a:pt x="53168" y="2"/>
                    <a:pt x="71766" y="18603"/>
                  </a:cubicBezTo>
                  <a:cubicBezTo>
                    <a:pt x="90365" y="37204"/>
                    <a:pt x="90363" y="67361"/>
                    <a:pt x="71761" y="85959"/>
                  </a:cubicBezTo>
                  <a:lnTo>
                    <a:pt x="66675" y="90379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7658099" y="1724025"/>
              <a:ext cx="85726" cy="90359"/>
            </a:xfrm>
            <a:custGeom>
              <a:avLst/>
              <a:gdLst/>
              <a:ahLst/>
              <a:cxnLst/>
              <a:rect l="l" t="t" r="r" b="b"/>
              <a:pathLst>
                <a:path w="85726" h="90359">
                  <a:moveTo>
                    <a:pt x="85726" y="66675"/>
                  </a:moveTo>
                  <a:lnTo>
                    <a:pt x="81945" y="71761"/>
                  </a:lnTo>
                  <a:cubicBezTo>
                    <a:pt x="63138" y="90359"/>
                    <a:pt x="32867" y="90359"/>
                    <a:pt x="14060" y="71761"/>
                  </a:cubicBezTo>
                  <a:cubicBezTo>
                    <a:pt x="5063" y="62865"/>
                    <a:pt x="0" y="50738"/>
                    <a:pt x="0" y="38086"/>
                  </a:cubicBezTo>
                  <a:cubicBezTo>
                    <a:pt x="0" y="25433"/>
                    <a:pt x="5063" y="13306"/>
                    <a:pt x="14060" y="4410"/>
                  </a:cubicBezTo>
                  <a:lnTo>
                    <a:pt x="19051" y="0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7936230" y="16449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跨卡合成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715500" y="133350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grpSp>
        <p:nvGrpSpPr>
          <p:cNvPr id="40" name="Group 40"/>
          <p:cNvGrpSpPr/>
          <p:nvPr/>
        </p:nvGrpSpPr>
        <p:grpSpPr>
          <a:xfrm>
            <a:off x="9953625" y="1656350"/>
            <a:ext cx="153344" cy="154400"/>
            <a:chOff x="9953625" y="1656350"/>
            <a:chExt cx="153344" cy="154400"/>
          </a:xfrm>
        </p:grpSpPr>
        <p:sp>
          <p:nvSpPr>
            <p:cNvPr id="33" name="Freeform 33"/>
            <p:cNvSpPr/>
            <p:nvPr/>
          </p:nvSpPr>
          <p:spPr>
            <a:xfrm>
              <a:off x="9953625" y="1657350"/>
              <a:ext cx="38100" cy="152400"/>
            </a:xfrm>
            <a:custGeom>
              <a:avLst/>
              <a:gdLst/>
              <a:ahLst/>
              <a:cxnLst/>
              <a:rect l="l" t="t" r="r" b="b"/>
              <a:pathLst>
                <a:path w="38100" h="152400">
                  <a:moveTo>
                    <a:pt x="0" y="9525"/>
                  </a:moveTo>
                  <a:cubicBezTo>
                    <a:pt x="0" y="4264"/>
                    <a:pt x="4264" y="0"/>
                    <a:pt x="9525" y="0"/>
                  </a:cubicBezTo>
                  <a:lnTo>
                    <a:pt x="28575" y="0"/>
                  </a:lnTo>
                  <a:cubicBezTo>
                    <a:pt x="33836" y="0"/>
                    <a:pt x="38100" y="4264"/>
                    <a:pt x="38100" y="9525"/>
                  </a:cubicBezTo>
                  <a:lnTo>
                    <a:pt x="38100" y="142875"/>
                  </a:lnTo>
                  <a:cubicBezTo>
                    <a:pt x="38100" y="148136"/>
                    <a:pt x="33836" y="152400"/>
                    <a:pt x="28575" y="152400"/>
                  </a:cubicBezTo>
                  <a:lnTo>
                    <a:pt x="9525" y="152400"/>
                  </a:lnTo>
                  <a:cubicBezTo>
                    <a:pt x="4264" y="152400"/>
                    <a:pt x="0" y="148136"/>
                    <a:pt x="0" y="142875"/>
                  </a:cubicBezTo>
                  <a:lnTo>
                    <a:pt x="0" y="9525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9991725" y="1657350"/>
              <a:ext cx="38100" cy="152400"/>
            </a:xfrm>
            <a:custGeom>
              <a:avLst/>
              <a:gdLst/>
              <a:ahLst/>
              <a:cxnLst/>
              <a:rect l="l" t="t" r="r" b="b"/>
              <a:pathLst>
                <a:path w="38100" h="152400">
                  <a:moveTo>
                    <a:pt x="0" y="9525"/>
                  </a:moveTo>
                  <a:cubicBezTo>
                    <a:pt x="0" y="4264"/>
                    <a:pt x="4264" y="0"/>
                    <a:pt x="9525" y="0"/>
                  </a:cubicBezTo>
                  <a:lnTo>
                    <a:pt x="28575" y="0"/>
                  </a:lnTo>
                  <a:cubicBezTo>
                    <a:pt x="33836" y="0"/>
                    <a:pt x="38100" y="4264"/>
                    <a:pt x="38100" y="9525"/>
                  </a:cubicBezTo>
                  <a:lnTo>
                    <a:pt x="38100" y="142875"/>
                  </a:lnTo>
                  <a:cubicBezTo>
                    <a:pt x="38100" y="148136"/>
                    <a:pt x="33836" y="152400"/>
                    <a:pt x="28575" y="152400"/>
                  </a:cubicBezTo>
                  <a:lnTo>
                    <a:pt x="9525" y="152400"/>
                  </a:lnTo>
                  <a:cubicBezTo>
                    <a:pt x="4264" y="152400"/>
                    <a:pt x="0" y="148136"/>
                    <a:pt x="0" y="142875"/>
                  </a:cubicBezTo>
                  <a:lnTo>
                    <a:pt x="0" y="9525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9953625" y="1695450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9991725" y="1771650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10028881" y="1656350"/>
              <a:ext cx="78088" cy="154400"/>
            </a:xfrm>
            <a:custGeom>
              <a:avLst/>
              <a:gdLst/>
              <a:ahLst/>
              <a:cxnLst/>
              <a:rect l="l" t="t" r="r" b="b"/>
              <a:pathLst>
                <a:path w="78088" h="154400">
                  <a:moveTo>
                    <a:pt x="8592" y="6334"/>
                  </a:moveTo>
                  <a:lnTo>
                    <a:pt x="29395" y="1286"/>
                  </a:lnTo>
                  <a:cubicBezTo>
                    <a:pt x="34748" y="0"/>
                    <a:pt x="40187" y="3096"/>
                    <a:pt x="41606" y="8258"/>
                  </a:cubicBezTo>
                  <a:lnTo>
                    <a:pt x="76801" y="136065"/>
                  </a:lnTo>
                  <a:cubicBezTo>
                    <a:pt x="78088" y="140914"/>
                    <a:pt x="75471" y="145945"/>
                    <a:pt x="70762" y="147676"/>
                  </a:cubicBezTo>
                  <a:lnTo>
                    <a:pt x="69495" y="148066"/>
                  </a:lnTo>
                  <a:lnTo>
                    <a:pt x="48693" y="153114"/>
                  </a:lnTo>
                  <a:cubicBezTo>
                    <a:pt x="43340" y="154400"/>
                    <a:pt x="37901" y="151305"/>
                    <a:pt x="36482" y="146142"/>
                  </a:cubicBezTo>
                  <a:lnTo>
                    <a:pt x="1287" y="18336"/>
                  </a:lnTo>
                  <a:cubicBezTo>
                    <a:pt x="0" y="13487"/>
                    <a:pt x="2617" y="8455"/>
                    <a:pt x="7326" y="6725"/>
                  </a:cubicBezTo>
                  <a:lnTo>
                    <a:pt x="8592" y="6334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0039350" y="1695450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0" y="9525"/>
                  </a:moveTo>
                  <a:lnTo>
                    <a:pt x="38100" y="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10058400" y="1762316"/>
              <a:ext cx="37367" cy="9525"/>
            </a:xfrm>
            <a:custGeom>
              <a:avLst/>
              <a:gdLst/>
              <a:ahLst/>
              <a:cxnLst/>
              <a:rect l="l" t="t" r="r" b="b"/>
              <a:pathLst>
                <a:path w="37367" h="9525">
                  <a:moveTo>
                    <a:pt x="0" y="9334"/>
                  </a:moveTo>
                  <a:lnTo>
                    <a:pt x="37367" y="0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41" name="TextBox 41"/>
          <p:cNvSpPr txBox="1"/>
          <p:nvPr/>
        </p:nvSpPr>
        <p:spPr>
          <a:xfrm>
            <a:off x="10222230" y="16449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历史图鉴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2524125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grpSp>
        <p:nvGrpSpPr>
          <p:cNvPr id="45" name="Group 45"/>
          <p:cNvGrpSpPr/>
          <p:nvPr/>
        </p:nvGrpSpPr>
        <p:grpSpPr>
          <a:xfrm>
            <a:off x="809625" y="2839348"/>
            <a:ext cx="133350" cy="170552"/>
            <a:chOff x="809625" y="2839348"/>
            <a:chExt cx="133350" cy="170552"/>
          </a:xfrm>
        </p:grpSpPr>
        <p:sp>
          <p:nvSpPr>
            <p:cNvPr id="43" name="Freeform 43"/>
            <p:cNvSpPr/>
            <p:nvPr/>
          </p:nvSpPr>
          <p:spPr>
            <a:xfrm>
              <a:off x="809625" y="2839348"/>
              <a:ext cx="133350" cy="122029"/>
            </a:xfrm>
            <a:custGeom>
              <a:avLst/>
              <a:gdLst/>
              <a:ahLst/>
              <a:cxnLst/>
              <a:rect l="l" t="t" r="r" b="b"/>
              <a:pathLst>
                <a:path w="133350" h="122029">
                  <a:moveTo>
                    <a:pt x="0" y="18152"/>
                  </a:moveTo>
                  <a:cubicBezTo>
                    <a:pt x="18519" y="0"/>
                    <a:pt x="48156" y="0"/>
                    <a:pt x="66675" y="18152"/>
                  </a:cubicBezTo>
                  <a:cubicBezTo>
                    <a:pt x="85194" y="36304"/>
                    <a:pt x="114831" y="36304"/>
                    <a:pt x="133350" y="18152"/>
                  </a:cubicBezTo>
                  <a:lnTo>
                    <a:pt x="133350" y="103877"/>
                  </a:lnTo>
                  <a:cubicBezTo>
                    <a:pt x="114831" y="122029"/>
                    <a:pt x="85194" y="122029"/>
                    <a:pt x="66675" y="103877"/>
                  </a:cubicBezTo>
                  <a:cubicBezTo>
                    <a:pt x="48156" y="85725"/>
                    <a:pt x="18519" y="85725"/>
                    <a:pt x="0" y="103877"/>
                  </a:cubicBezTo>
                  <a:lnTo>
                    <a:pt x="0" y="18152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809625" y="2943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46" name="TextBox 46"/>
          <p:cNvSpPr txBox="1"/>
          <p:nvPr/>
        </p:nvSpPr>
        <p:spPr>
          <a:xfrm>
            <a:off x="1078230" y="28355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每日任务</a:t>
            </a:r>
          </a:p>
        </p:txBody>
      </p:sp>
      <p:sp>
        <p:nvSpPr>
          <p:cNvPr id="47" name="Rectangle 47"/>
          <p:cNvSpPr/>
          <p:nvPr/>
        </p:nvSpPr>
        <p:spPr>
          <a:xfrm>
            <a:off x="2857500" y="2524125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48" name="Freeform 48"/>
          <p:cNvSpPr/>
          <p:nvPr/>
        </p:nvSpPr>
        <p:spPr>
          <a:xfrm>
            <a:off x="3076575" y="2847975"/>
            <a:ext cx="161925" cy="152400"/>
          </a:xfrm>
          <a:custGeom>
            <a:avLst/>
            <a:gdLst/>
            <a:ahLst/>
            <a:cxnLst/>
            <a:rect l="l" t="t" r="r" b="b"/>
            <a:pathLst>
              <a:path w="161925" h="152400">
                <a:moveTo>
                  <a:pt x="123825" y="133350"/>
                </a:moveTo>
                <a:cubicBezTo>
                  <a:pt x="134346" y="133350"/>
                  <a:pt x="142875" y="141879"/>
                  <a:pt x="142875" y="152400"/>
                </a:cubicBezTo>
                <a:cubicBezTo>
                  <a:pt x="142875" y="141879"/>
                  <a:pt x="151404" y="133350"/>
                  <a:pt x="161925" y="133350"/>
                </a:cubicBezTo>
                <a:cubicBezTo>
                  <a:pt x="151404" y="133350"/>
                  <a:pt x="142875" y="124821"/>
                  <a:pt x="142875" y="114300"/>
                </a:cubicBezTo>
                <a:cubicBezTo>
                  <a:pt x="142875" y="124821"/>
                  <a:pt x="134346" y="133350"/>
                  <a:pt x="123825" y="133350"/>
                </a:cubicBezTo>
                <a:moveTo>
                  <a:pt x="123825" y="19050"/>
                </a:moveTo>
                <a:cubicBezTo>
                  <a:pt x="134346" y="19050"/>
                  <a:pt x="142875" y="27579"/>
                  <a:pt x="142875" y="38100"/>
                </a:cubicBezTo>
                <a:cubicBezTo>
                  <a:pt x="142875" y="27579"/>
                  <a:pt x="151404" y="19050"/>
                  <a:pt x="161925" y="19050"/>
                </a:cubicBezTo>
                <a:cubicBezTo>
                  <a:pt x="151404" y="19050"/>
                  <a:pt x="142875" y="10521"/>
                  <a:pt x="142875" y="0"/>
                </a:cubicBezTo>
                <a:cubicBezTo>
                  <a:pt x="142875" y="10521"/>
                  <a:pt x="134346" y="19050"/>
                  <a:pt x="123825" y="19050"/>
                </a:cubicBezTo>
                <a:moveTo>
                  <a:pt x="57150" y="133350"/>
                </a:moveTo>
                <a:cubicBezTo>
                  <a:pt x="57150" y="101787"/>
                  <a:pt x="82737" y="76200"/>
                  <a:pt x="114300" y="76200"/>
                </a:cubicBezTo>
                <a:cubicBezTo>
                  <a:pt x="82737" y="76200"/>
                  <a:pt x="57150" y="50613"/>
                  <a:pt x="57150" y="19050"/>
                </a:cubicBezTo>
                <a:cubicBezTo>
                  <a:pt x="57150" y="50613"/>
                  <a:pt x="31563" y="76200"/>
                  <a:pt x="0" y="76200"/>
                </a:cubicBezTo>
                <a:cubicBezTo>
                  <a:pt x="31563" y="76200"/>
                  <a:pt x="57150" y="101787"/>
                  <a:pt x="57150" y="133350"/>
                </a:cubicBezTo>
              </a:path>
            </a:pathLst>
          </a:custGeom>
          <a:noFill/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3364230" y="28355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广告奖励</a:t>
            </a:r>
          </a:p>
        </p:txBody>
      </p:sp>
      <p:sp>
        <p:nvSpPr>
          <p:cNvPr id="50" name="Rectangle 50"/>
          <p:cNvSpPr/>
          <p:nvPr/>
        </p:nvSpPr>
        <p:spPr>
          <a:xfrm>
            <a:off x="5143500" y="2524125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grpSp>
        <p:nvGrpSpPr>
          <p:cNvPr id="55" name="Group 55"/>
          <p:cNvGrpSpPr/>
          <p:nvPr/>
        </p:nvGrpSpPr>
        <p:grpSpPr>
          <a:xfrm>
            <a:off x="5362575" y="2838122"/>
            <a:ext cx="171450" cy="171778"/>
            <a:chOff x="5362575" y="2838122"/>
            <a:chExt cx="171450" cy="171778"/>
          </a:xfrm>
        </p:grpSpPr>
        <p:sp>
          <p:nvSpPr>
            <p:cNvPr id="51" name="Freeform 51"/>
            <p:cNvSpPr/>
            <p:nvPr/>
          </p:nvSpPr>
          <p:spPr>
            <a:xfrm>
              <a:off x="5362575" y="2886075"/>
              <a:ext cx="171450" cy="38100"/>
            </a:xfrm>
            <a:custGeom>
              <a:avLst/>
              <a:gdLst/>
              <a:ahLst/>
              <a:cxnLst/>
              <a:rect l="l" t="t" r="r" b="b"/>
              <a:pathLst>
                <a:path w="171450" h="38100">
                  <a:moveTo>
                    <a:pt x="0" y="9525"/>
                  </a:moveTo>
                  <a:cubicBezTo>
                    <a:pt x="0" y="4264"/>
                    <a:pt x="4264" y="0"/>
                    <a:pt x="9525" y="0"/>
                  </a:cubicBezTo>
                  <a:lnTo>
                    <a:pt x="161925" y="0"/>
                  </a:lnTo>
                  <a:cubicBezTo>
                    <a:pt x="167186" y="0"/>
                    <a:pt x="171450" y="4264"/>
                    <a:pt x="171450" y="9525"/>
                  </a:cubicBezTo>
                  <a:lnTo>
                    <a:pt x="171450" y="28575"/>
                  </a:lnTo>
                  <a:cubicBezTo>
                    <a:pt x="171450" y="33836"/>
                    <a:pt x="167186" y="38100"/>
                    <a:pt x="161925" y="38100"/>
                  </a:cubicBezTo>
                  <a:lnTo>
                    <a:pt x="9525" y="38100"/>
                  </a:lnTo>
                  <a:cubicBezTo>
                    <a:pt x="4264" y="38100"/>
                    <a:pt x="0" y="33836"/>
                    <a:pt x="0" y="28575"/>
                  </a:cubicBezTo>
                  <a:lnTo>
                    <a:pt x="0" y="9525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5448300" y="2886075"/>
              <a:ext cx="9525" cy="123825"/>
            </a:xfrm>
            <a:custGeom>
              <a:avLst/>
              <a:gdLst/>
              <a:ahLst/>
              <a:cxnLst/>
              <a:rect l="l" t="t" r="r" b="b"/>
              <a:pathLst>
                <a:path w="9525" h="123825">
                  <a:moveTo>
                    <a:pt x="0" y="0"/>
                  </a:moveTo>
                  <a:lnTo>
                    <a:pt x="0" y="123825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5381625" y="2924175"/>
              <a:ext cx="133350" cy="85725"/>
            </a:xfrm>
            <a:custGeom>
              <a:avLst/>
              <a:gdLst/>
              <a:ahLst/>
              <a:cxnLst/>
              <a:rect l="l" t="t" r="r" b="b"/>
              <a:pathLst>
                <a:path w="133350" h="85725">
                  <a:moveTo>
                    <a:pt x="133350" y="0"/>
                  </a:moveTo>
                  <a:lnTo>
                    <a:pt x="133350" y="66675"/>
                  </a:lnTo>
                  <a:cubicBezTo>
                    <a:pt x="133350" y="77196"/>
                    <a:pt x="124821" y="85725"/>
                    <a:pt x="114300" y="85725"/>
                  </a:cubicBezTo>
                  <a:lnTo>
                    <a:pt x="19050" y="85725"/>
                  </a:lnTo>
                  <a:cubicBezTo>
                    <a:pt x="8529" y="85725"/>
                    <a:pt x="0" y="77196"/>
                    <a:pt x="0" y="66675"/>
                  </a:cubicBez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5381625" y="2838122"/>
              <a:ext cx="133350" cy="47953"/>
            </a:xfrm>
            <a:custGeom>
              <a:avLst/>
              <a:gdLst/>
              <a:ahLst/>
              <a:cxnLst/>
              <a:rect l="l" t="t" r="r" b="b"/>
              <a:pathLst>
                <a:path w="133350" h="47953">
                  <a:moveTo>
                    <a:pt x="23812" y="47953"/>
                  </a:moveTo>
                  <a:cubicBezTo>
                    <a:pt x="10661" y="47953"/>
                    <a:pt x="0" y="37291"/>
                    <a:pt x="0" y="24140"/>
                  </a:cubicBezTo>
                  <a:cubicBezTo>
                    <a:pt x="0" y="10989"/>
                    <a:pt x="10661" y="328"/>
                    <a:pt x="23812" y="328"/>
                  </a:cubicBezTo>
                  <a:cubicBezTo>
                    <a:pt x="42617" y="0"/>
                    <a:pt x="59624" y="18897"/>
                    <a:pt x="66675" y="47953"/>
                  </a:cubicBezTo>
                  <a:cubicBezTo>
                    <a:pt x="73726" y="18897"/>
                    <a:pt x="90733" y="0"/>
                    <a:pt x="109538" y="328"/>
                  </a:cubicBezTo>
                  <a:cubicBezTo>
                    <a:pt x="122689" y="328"/>
                    <a:pt x="133350" y="10989"/>
                    <a:pt x="133350" y="24140"/>
                  </a:cubicBezTo>
                  <a:cubicBezTo>
                    <a:pt x="133350" y="37291"/>
                    <a:pt x="122689" y="47953"/>
                    <a:pt x="109538" y="47953"/>
                  </a:cubicBez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56" name="TextBox 56"/>
          <p:cNvSpPr txBox="1"/>
          <p:nvPr/>
        </p:nvSpPr>
        <p:spPr>
          <a:xfrm>
            <a:off x="5650230" y="28355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分享奖励</a:t>
            </a:r>
          </a:p>
        </p:txBody>
      </p:sp>
      <p:sp>
        <p:nvSpPr>
          <p:cNvPr id="57" name="Rectangle 57"/>
          <p:cNvSpPr/>
          <p:nvPr/>
        </p:nvSpPr>
        <p:spPr>
          <a:xfrm>
            <a:off x="7429500" y="2524125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4288">
            <a:solidFill>
              <a:srgbClr val="C41E3A"/>
            </a:solidFill>
          </a:ln>
        </p:spPr>
      </p:sp>
      <p:sp>
        <p:nvSpPr>
          <p:cNvPr id="58" name="Freeform 58"/>
          <p:cNvSpPr/>
          <p:nvPr/>
        </p:nvSpPr>
        <p:spPr>
          <a:xfrm>
            <a:off x="7648575" y="2867025"/>
            <a:ext cx="171450" cy="114300"/>
          </a:xfrm>
          <a:custGeom>
            <a:avLst/>
            <a:gdLst/>
            <a:ahLst/>
            <a:cxnLst/>
            <a:rect l="l" t="t" r="r" b="b"/>
            <a:pathLst>
              <a:path w="171450" h="114300">
                <a:moveTo>
                  <a:pt x="85725" y="0"/>
                </a:moveTo>
                <a:lnTo>
                  <a:pt x="123825" y="57150"/>
                </a:lnTo>
                <a:lnTo>
                  <a:pt x="171450" y="19050"/>
                </a:lnTo>
                <a:lnTo>
                  <a:pt x="152400" y="114300"/>
                </a:lnTo>
                <a:lnTo>
                  <a:pt x="19050" y="114300"/>
                </a:lnTo>
                <a:lnTo>
                  <a:pt x="0" y="19050"/>
                </a:lnTo>
                <a:lnTo>
                  <a:pt x="47625" y="57150"/>
                </a:lnTo>
                <a:lnTo>
                  <a:pt x="85725" y="0"/>
                </a:lnTo>
              </a:path>
            </a:pathLst>
          </a:custGeom>
          <a:noFill/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7936230" y="2835592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终极编号卡</a:t>
            </a:r>
          </a:p>
        </p:txBody>
      </p:sp>
      <p:sp>
        <p:nvSpPr>
          <p:cNvPr id="60" name="Rectangle 60"/>
          <p:cNvSpPr/>
          <p:nvPr/>
        </p:nvSpPr>
        <p:spPr>
          <a:xfrm>
            <a:off x="9715500" y="2524125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grpSp>
        <p:nvGrpSpPr>
          <p:cNvPr id="64" name="Group 64"/>
          <p:cNvGrpSpPr/>
          <p:nvPr/>
        </p:nvGrpSpPr>
        <p:grpSpPr>
          <a:xfrm>
            <a:off x="9934575" y="2838450"/>
            <a:ext cx="171450" cy="171450"/>
            <a:chOff x="9934575" y="2838450"/>
            <a:chExt cx="171450" cy="171450"/>
          </a:xfrm>
        </p:grpSpPr>
        <p:sp>
          <p:nvSpPr>
            <p:cNvPr id="61" name="Freeform 61"/>
            <p:cNvSpPr/>
            <p:nvPr/>
          </p:nvSpPr>
          <p:spPr>
            <a:xfrm>
              <a:off x="9934575" y="283845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0" y="85725"/>
                  </a:moveTo>
                  <a:cubicBezTo>
                    <a:pt x="0" y="133070"/>
                    <a:pt x="38380" y="171450"/>
                    <a:pt x="85725" y="171450"/>
                  </a:cubicBezTo>
                  <a:cubicBezTo>
                    <a:pt x="133070" y="171450"/>
                    <a:pt x="171450" y="133070"/>
                    <a:pt x="171450" y="85725"/>
                  </a:cubicBezTo>
                  <a:cubicBezTo>
                    <a:pt x="171450" y="38380"/>
                    <a:pt x="133070" y="0"/>
                    <a:pt x="85725" y="0"/>
                  </a:cubicBezTo>
                  <a:cubicBezTo>
                    <a:pt x="38380" y="0"/>
                    <a:pt x="0" y="38380"/>
                    <a:pt x="0" y="85725"/>
                  </a:cubicBezTo>
                </a:path>
              </a:pathLst>
            </a:custGeom>
            <a:noFill/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9991725" y="2885838"/>
              <a:ext cx="57150" cy="76674"/>
            </a:xfrm>
            <a:custGeom>
              <a:avLst/>
              <a:gdLst/>
              <a:ahLst/>
              <a:cxnLst/>
              <a:rect l="l" t="t" r="r" b="b"/>
              <a:pathLst>
                <a:path w="57150" h="76674">
                  <a:moveTo>
                    <a:pt x="55245" y="9762"/>
                  </a:moveTo>
                  <a:cubicBezTo>
                    <a:pt x="51729" y="3663"/>
                    <a:pt x="45136" y="0"/>
                    <a:pt x="38100" y="237"/>
                  </a:cubicBezTo>
                  <a:lnTo>
                    <a:pt x="19050" y="237"/>
                  </a:lnTo>
                  <a:cubicBezTo>
                    <a:pt x="8529" y="237"/>
                    <a:pt x="0" y="8766"/>
                    <a:pt x="0" y="19287"/>
                  </a:cubicBezTo>
                  <a:cubicBezTo>
                    <a:pt x="0" y="29808"/>
                    <a:pt x="8529" y="38337"/>
                    <a:pt x="19050" y="38337"/>
                  </a:cubicBezTo>
                  <a:lnTo>
                    <a:pt x="38100" y="38337"/>
                  </a:lnTo>
                  <a:cubicBezTo>
                    <a:pt x="48621" y="38337"/>
                    <a:pt x="57150" y="46866"/>
                    <a:pt x="57150" y="57387"/>
                  </a:cubicBezTo>
                  <a:cubicBezTo>
                    <a:pt x="57150" y="67908"/>
                    <a:pt x="48621" y="76437"/>
                    <a:pt x="38100" y="76437"/>
                  </a:cubicBezTo>
                  <a:lnTo>
                    <a:pt x="19050" y="76437"/>
                  </a:lnTo>
                  <a:cubicBezTo>
                    <a:pt x="12014" y="76674"/>
                    <a:pt x="5421" y="73011"/>
                    <a:pt x="1905" y="66912"/>
                  </a:cubicBezTo>
                </a:path>
              </a:pathLst>
            </a:custGeom>
            <a:noFill/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10020300" y="287655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65" name="TextBox 65"/>
          <p:cNvSpPr txBox="1"/>
          <p:nvPr/>
        </p:nvSpPr>
        <p:spPr>
          <a:xfrm>
            <a:off x="10222230" y="2835592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支付与内购</a:t>
            </a:r>
          </a:p>
        </p:txBody>
      </p:sp>
      <p:sp>
        <p:nvSpPr>
          <p:cNvPr id="66" name="Rectangle 66"/>
          <p:cNvSpPr/>
          <p:nvPr/>
        </p:nvSpPr>
        <p:spPr>
          <a:xfrm>
            <a:off x="2857500" y="3714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grpSp>
        <p:nvGrpSpPr>
          <p:cNvPr id="71" name="Group 71"/>
          <p:cNvGrpSpPr/>
          <p:nvPr/>
        </p:nvGrpSpPr>
        <p:grpSpPr>
          <a:xfrm>
            <a:off x="3076575" y="4038600"/>
            <a:ext cx="171450" cy="161925"/>
            <a:chOff x="3076575" y="4038600"/>
            <a:chExt cx="171450" cy="161925"/>
          </a:xfrm>
        </p:grpSpPr>
        <p:sp>
          <p:nvSpPr>
            <p:cNvPr id="67" name="Freeform 67"/>
            <p:cNvSpPr/>
            <p:nvPr/>
          </p:nvSpPr>
          <p:spPr>
            <a:xfrm>
              <a:off x="3076575" y="4114800"/>
              <a:ext cx="57150" cy="76200"/>
            </a:xfrm>
            <a:custGeom>
              <a:avLst/>
              <a:gdLst/>
              <a:ahLst/>
              <a:cxnLst/>
              <a:rect l="l" t="t" r="r" b="b"/>
              <a:pathLst>
                <a:path w="57150" h="76200">
                  <a:moveTo>
                    <a:pt x="0" y="9525"/>
                  </a:moveTo>
                  <a:cubicBezTo>
                    <a:pt x="0" y="4264"/>
                    <a:pt x="4264" y="0"/>
                    <a:pt x="9525" y="0"/>
                  </a:cubicBezTo>
                  <a:lnTo>
                    <a:pt x="47625" y="0"/>
                  </a:lnTo>
                  <a:cubicBezTo>
                    <a:pt x="52886" y="0"/>
                    <a:pt x="57150" y="4264"/>
                    <a:pt x="57150" y="9525"/>
                  </a:cubicBezTo>
                  <a:lnTo>
                    <a:pt x="57150" y="66675"/>
                  </a:lnTo>
                  <a:cubicBezTo>
                    <a:pt x="57150" y="71936"/>
                    <a:pt x="52886" y="76200"/>
                    <a:pt x="47625" y="76200"/>
                  </a:cubicBezTo>
                  <a:lnTo>
                    <a:pt x="9525" y="76200"/>
                  </a:lnTo>
                  <a:cubicBezTo>
                    <a:pt x="4264" y="76200"/>
                    <a:pt x="0" y="71936"/>
                    <a:pt x="0" y="66675"/>
                  </a:cubicBezTo>
                  <a:lnTo>
                    <a:pt x="0" y="9525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3190875" y="4076700"/>
              <a:ext cx="57150" cy="114300"/>
            </a:xfrm>
            <a:custGeom>
              <a:avLst/>
              <a:gdLst/>
              <a:ahLst/>
              <a:cxnLst/>
              <a:rect l="l" t="t" r="r" b="b"/>
              <a:pathLst>
                <a:path w="57150" h="114300">
                  <a:moveTo>
                    <a:pt x="0" y="9525"/>
                  </a:moveTo>
                  <a:cubicBezTo>
                    <a:pt x="0" y="4264"/>
                    <a:pt x="4264" y="0"/>
                    <a:pt x="9525" y="0"/>
                  </a:cubicBezTo>
                  <a:lnTo>
                    <a:pt x="47625" y="0"/>
                  </a:lnTo>
                  <a:cubicBezTo>
                    <a:pt x="52886" y="0"/>
                    <a:pt x="57150" y="4264"/>
                    <a:pt x="57150" y="9525"/>
                  </a:cubicBezTo>
                  <a:lnTo>
                    <a:pt x="57150" y="104775"/>
                  </a:lnTo>
                  <a:cubicBezTo>
                    <a:pt x="57150" y="110036"/>
                    <a:pt x="52886" y="114300"/>
                    <a:pt x="47625" y="114300"/>
                  </a:cubicBezTo>
                  <a:lnTo>
                    <a:pt x="9525" y="114300"/>
                  </a:lnTo>
                  <a:cubicBezTo>
                    <a:pt x="4264" y="114300"/>
                    <a:pt x="0" y="110036"/>
                    <a:pt x="0" y="104775"/>
                  </a:cubicBezTo>
                  <a:lnTo>
                    <a:pt x="0" y="9525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69" name="Freeform 69"/>
            <p:cNvSpPr/>
            <p:nvPr/>
          </p:nvSpPr>
          <p:spPr>
            <a:xfrm>
              <a:off x="3133725" y="4038600"/>
              <a:ext cx="57150" cy="152400"/>
            </a:xfrm>
            <a:custGeom>
              <a:avLst/>
              <a:gdLst/>
              <a:ahLst/>
              <a:cxnLst/>
              <a:rect l="l" t="t" r="r" b="b"/>
              <a:pathLst>
                <a:path w="57150" h="152400">
                  <a:moveTo>
                    <a:pt x="0" y="9525"/>
                  </a:moveTo>
                  <a:cubicBezTo>
                    <a:pt x="0" y="4264"/>
                    <a:pt x="4264" y="0"/>
                    <a:pt x="9525" y="0"/>
                  </a:cubicBezTo>
                  <a:lnTo>
                    <a:pt x="47625" y="0"/>
                  </a:lnTo>
                  <a:cubicBezTo>
                    <a:pt x="52886" y="0"/>
                    <a:pt x="57150" y="4264"/>
                    <a:pt x="57150" y="9525"/>
                  </a:cubicBezTo>
                  <a:lnTo>
                    <a:pt x="57150" y="142875"/>
                  </a:lnTo>
                  <a:cubicBezTo>
                    <a:pt x="57150" y="148136"/>
                    <a:pt x="52886" y="152400"/>
                    <a:pt x="47625" y="152400"/>
                  </a:cubicBezTo>
                  <a:lnTo>
                    <a:pt x="9525" y="152400"/>
                  </a:lnTo>
                  <a:cubicBezTo>
                    <a:pt x="4264" y="152400"/>
                    <a:pt x="0" y="148136"/>
                    <a:pt x="0" y="142875"/>
                  </a:cubicBezTo>
                  <a:lnTo>
                    <a:pt x="0" y="9525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3086100" y="4191000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72" name="TextBox 72"/>
          <p:cNvSpPr txBox="1"/>
          <p:nvPr/>
        </p:nvSpPr>
        <p:spPr>
          <a:xfrm>
            <a:off x="3364230" y="40262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后台配置</a:t>
            </a:r>
          </a:p>
        </p:txBody>
      </p:sp>
      <p:sp>
        <p:nvSpPr>
          <p:cNvPr id="73" name="Rectangle 73"/>
          <p:cNvSpPr/>
          <p:nvPr/>
        </p:nvSpPr>
        <p:spPr>
          <a:xfrm>
            <a:off x="5143500" y="3714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grpSp>
        <p:nvGrpSpPr>
          <p:cNvPr id="76" name="Group 76"/>
          <p:cNvGrpSpPr/>
          <p:nvPr/>
        </p:nvGrpSpPr>
        <p:grpSpPr>
          <a:xfrm>
            <a:off x="5362575" y="4067175"/>
            <a:ext cx="171450" cy="95250"/>
            <a:chOff x="5362575" y="4067175"/>
            <a:chExt cx="171450" cy="95250"/>
          </a:xfrm>
        </p:grpSpPr>
        <p:sp>
          <p:nvSpPr>
            <p:cNvPr id="74" name="Freeform 74"/>
            <p:cNvSpPr/>
            <p:nvPr/>
          </p:nvSpPr>
          <p:spPr>
            <a:xfrm>
              <a:off x="5362575" y="4067175"/>
              <a:ext cx="171450" cy="95250"/>
            </a:xfrm>
            <a:custGeom>
              <a:avLst/>
              <a:gdLst/>
              <a:ahLst/>
              <a:cxnLst/>
              <a:rect l="l" t="t" r="r" b="b"/>
              <a:pathLst>
                <a:path w="171450" h="95250">
                  <a:moveTo>
                    <a:pt x="0" y="95250"/>
                  </a:moveTo>
                  <a:lnTo>
                    <a:pt x="57150" y="38100"/>
                  </a:lnTo>
                  <a:lnTo>
                    <a:pt x="95250" y="76200"/>
                  </a:lnTo>
                  <a:lnTo>
                    <a:pt x="171450" y="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75" name="Freeform 75"/>
            <p:cNvSpPr/>
            <p:nvPr/>
          </p:nvSpPr>
          <p:spPr>
            <a:xfrm>
              <a:off x="5467350" y="406717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0"/>
                  </a:moveTo>
                  <a:lnTo>
                    <a:pt x="66675" y="0"/>
                  </a:lnTo>
                  <a:lnTo>
                    <a:pt x="66675" y="66675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77" name="TextBox 77"/>
          <p:cNvSpPr txBox="1"/>
          <p:nvPr/>
        </p:nvSpPr>
        <p:spPr>
          <a:xfrm>
            <a:off x="5650230" y="40262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用户成长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48665" y="5125402"/>
            <a:ext cx="25609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红色标记为核心差异化系统——终极编号卡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07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96E">
                  <a:alpha val="4000"/>
                </a:srgbClr>
              </a:gs>
              <a:gs pos="100000">
                <a:srgbClr val="C9A96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7700" y="2266950"/>
            <a:ext cx="1614773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0" b="1" dirty="0">
                <a:solidFill>
                  <a:srgbClr val="C9A96E">
                    <a:alphaMod val="15000"/>
                  </a:srgbClr>
                </a:solidFill>
                <a:latin typeface="Georgia"/>
                <a:ea typeface="KaiTi"/>
                <a:cs typeface="Georgia"/>
              </a:rPr>
              <a:t>03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3714750"/>
            <a:ext cx="762000" cy="28575"/>
          </a:xfrm>
          <a:prstGeom prst="rect">
            <a:avLst/>
          </a:prstGeom>
          <a:solidFill>
            <a:srgbClr val="C9A96E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16280" y="3802380"/>
            <a:ext cx="311581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E6E1D8"/>
                </a:solidFill>
                <a:latin typeface="Georgia"/>
                <a:ea typeface="KaiTi"/>
                <a:cs typeface="Georgia"/>
              </a:rPr>
              <a:t>卡牌体系设计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7235" y="4551998"/>
            <a:ext cx="454809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三大核心属性 · 十二级结构 · 数量规划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08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96E">
                  <a:alpha val="3000"/>
                </a:srgbClr>
              </a:gs>
              <a:gs pos="100000">
                <a:srgbClr val="C9A96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28003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C9A96E"/>
                </a:solidFill>
                <a:latin typeface="Georgia"/>
                <a:ea typeface="KaiTi"/>
                <a:cs typeface="Georgia"/>
              </a:rPr>
              <a:t>三大核心属性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704850"/>
            <a:ext cx="381000" cy="19050"/>
          </a:xfrm>
          <a:prstGeom prst="rect">
            <a:avLst/>
          </a:prstGeom>
          <a:solidFill>
            <a:srgbClr val="C9A96E">
              <a:alpha val="5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3524250" cy="4953000"/>
          </a:xfrm>
          <a:prstGeom prst="roundRect">
            <a:avLst>
              <a:gd name="adj" fmla="val 3243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047750"/>
            <a:ext cx="352425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012918" y="1344930"/>
            <a:ext cx="64141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9A96E"/>
                </a:solidFill>
                <a:latin typeface="Georgia"/>
                <a:ea typeface="KaiTi"/>
                <a:cs typeface="Georgia"/>
              </a:rPr>
              <a:t>级别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83388" y="1514475"/>
            <a:ext cx="1500473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1-12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94234" y="2259806"/>
            <a:ext cx="1678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代表合成层级和历史价值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57250" y="2667000"/>
            <a:ext cx="295275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2010" y="2870835"/>
            <a:ext cx="11506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越高越接近重大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2010" y="3128010"/>
            <a:ext cx="1470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历史事件与时代转折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2010" y="3489960"/>
            <a:ext cx="15106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12级 = 终极收藏目标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2010" y="3851910"/>
            <a:ext cx="13986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4级以上主要靠合成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047750"/>
            <a:ext cx="3524250" cy="4953000"/>
          </a:xfrm>
          <a:prstGeom prst="roundRect">
            <a:avLst>
              <a:gd name="adj" fmla="val 3243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1047750"/>
            <a:ext cx="352425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6006749" y="1371594"/>
            <a:ext cx="254684" cy="228920"/>
            <a:chOff x="6006749" y="1371594"/>
            <a:chExt cx="254684" cy="228920"/>
          </a:xfrm>
        </p:grpSpPr>
        <p:sp>
          <p:nvSpPr>
            <p:cNvPr id="18" name="Freeform 18"/>
            <p:cNvSpPr/>
            <p:nvPr/>
          </p:nvSpPr>
          <p:spPr>
            <a:xfrm>
              <a:off x="6154069" y="1498594"/>
              <a:ext cx="107364" cy="101920"/>
            </a:xfrm>
            <a:custGeom>
              <a:avLst/>
              <a:gdLst/>
              <a:ahLst/>
              <a:cxnLst/>
              <a:rect l="l" t="t" r="r" b="b"/>
              <a:pathLst>
                <a:path w="107364" h="101920">
                  <a:moveTo>
                    <a:pt x="53691" y="86582"/>
                  </a:moveTo>
                  <a:lnTo>
                    <a:pt x="26106" y="101034"/>
                  </a:lnTo>
                  <a:cubicBezTo>
                    <a:pt x="24437" y="101903"/>
                    <a:pt x="22420" y="101756"/>
                    <a:pt x="20894" y="100655"/>
                  </a:cubicBezTo>
                  <a:cubicBezTo>
                    <a:pt x="19368" y="99553"/>
                    <a:pt x="18594" y="97686"/>
                    <a:pt x="18893" y="95827"/>
                  </a:cubicBezTo>
                  <a:lnTo>
                    <a:pt x="24163" y="65208"/>
                  </a:lnTo>
                  <a:lnTo>
                    <a:pt x="1849" y="43529"/>
                  </a:lnTo>
                  <a:cubicBezTo>
                    <a:pt x="490" y="42215"/>
                    <a:pt x="0" y="40241"/>
                    <a:pt x="586" y="38444"/>
                  </a:cubicBezTo>
                  <a:cubicBezTo>
                    <a:pt x="1173" y="36647"/>
                    <a:pt x="2733" y="35343"/>
                    <a:pt x="4605" y="35083"/>
                  </a:cubicBezTo>
                  <a:lnTo>
                    <a:pt x="35441" y="30613"/>
                  </a:lnTo>
                  <a:lnTo>
                    <a:pt x="49233" y="2762"/>
                  </a:lnTo>
                  <a:cubicBezTo>
                    <a:pt x="50074" y="1070"/>
                    <a:pt x="51801" y="0"/>
                    <a:pt x="53691" y="0"/>
                  </a:cubicBezTo>
                  <a:cubicBezTo>
                    <a:pt x="55580" y="0"/>
                    <a:pt x="57307" y="1070"/>
                    <a:pt x="58148" y="2762"/>
                  </a:cubicBezTo>
                  <a:lnTo>
                    <a:pt x="71940" y="30613"/>
                  </a:lnTo>
                  <a:lnTo>
                    <a:pt x="102776" y="35083"/>
                  </a:lnTo>
                  <a:cubicBezTo>
                    <a:pt x="104642" y="35352"/>
                    <a:pt x="106195" y="36657"/>
                    <a:pt x="106779" y="38449"/>
                  </a:cubicBezTo>
                  <a:cubicBezTo>
                    <a:pt x="107364" y="40242"/>
                    <a:pt x="106881" y="42211"/>
                    <a:pt x="105532" y="43529"/>
                  </a:cubicBezTo>
                  <a:lnTo>
                    <a:pt x="83218" y="65208"/>
                  </a:lnTo>
                  <a:lnTo>
                    <a:pt x="88476" y="95815"/>
                  </a:lnTo>
                  <a:cubicBezTo>
                    <a:pt x="88798" y="97677"/>
                    <a:pt x="88032" y="99560"/>
                    <a:pt x="86502" y="100669"/>
                  </a:cubicBezTo>
                  <a:cubicBezTo>
                    <a:pt x="84972" y="101778"/>
                    <a:pt x="82944" y="101920"/>
                    <a:pt x="81275" y="101034"/>
                  </a:cubicBezTo>
                  <a:lnTo>
                    <a:pt x="53691" y="86582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6006749" y="1498594"/>
              <a:ext cx="107364" cy="101920"/>
            </a:xfrm>
            <a:custGeom>
              <a:avLst/>
              <a:gdLst/>
              <a:ahLst/>
              <a:cxnLst/>
              <a:rect l="l" t="t" r="r" b="b"/>
              <a:pathLst>
                <a:path w="107364" h="101920">
                  <a:moveTo>
                    <a:pt x="53691" y="86582"/>
                  </a:moveTo>
                  <a:lnTo>
                    <a:pt x="26106" y="101034"/>
                  </a:lnTo>
                  <a:cubicBezTo>
                    <a:pt x="24437" y="101903"/>
                    <a:pt x="22420" y="101756"/>
                    <a:pt x="20894" y="100655"/>
                  </a:cubicBezTo>
                  <a:cubicBezTo>
                    <a:pt x="19368" y="99553"/>
                    <a:pt x="18594" y="97686"/>
                    <a:pt x="18893" y="95827"/>
                  </a:cubicBezTo>
                  <a:lnTo>
                    <a:pt x="24163" y="65208"/>
                  </a:lnTo>
                  <a:lnTo>
                    <a:pt x="1849" y="43529"/>
                  </a:lnTo>
                  <a:cubicBezTo>
                    <a:pt x="490" y="42215"/>
                    <a:pt x="0" y="40241"/>
                    <a:pt x="586" y="38444"/>
                  </a:cubicBezTo>
                  <a:cubicBezTo>
                    <a:pt x="1173" y="36647"/>
                    <a:pt x="2733" y="35343"/>
                    <a:pt x="4605" y="35083"/>
                  </a:cubicBezTo>
                  <a:lnTo>
                    <a:pt x="35441" y="30613"/>
                  </a:lnTo>
                  <a:lnTo>
                    <a:pt x="49233" y="2762"/>
                  </a:lnTo>
                  <a:cubicBezTo>
                    <a:pt x="50074" y="1070"/>
                    <a:pt x="51801" y="0"/>
                    <a:pt x="53691" y="0"/>
                  </a:cubicBezTo>
                  <a:cubicBezTo>
                    <a:pt x="55580" y="0"/>
                    <a:pt x="57307" y="1070"/>
                    <a:pt x="58148" y="2762"/>
                  </a:cubicBezTo>
                  <a:lnTo>
                    <a:pt x="71940" y="30613"/>
                  </a:lnTo>
                  <a:lnTo>
                    <a:pt x="102776" y="35083"/>
                  </a:lnTo>
                  <a:cubicBezTo>
                    <a:pt x="104642" y="35352"/>
                    <a:pt x="106195" y="36657"/>
                    <a:pt x="106779" y="38449"/>
                  </a:cubicBezTo>
                  <a:cubicBezTo>
                    <a:pt x="107364" y="40242"/>
                    <a:pt x="106881" y="42211"/>
                    <a:pt x="105532" y="43529"/>
                  </a:cubicBezTo>
                  <a:lnTo>
                    <a:pt x="83218" y="65208"/>
                  </a:lnTo>
                  <a:lnTo>
                    <a:pt x="88476" y="95815"/>
                  </a:lnTo>
                  <a:cubicBezTo>
                    <a:pt x="88798" y="97677"/>
                    <a:pt x="88032" y="99560"/>
                    <a:pt x="86502" y="100669"/>
                  </a:cubicBezTo>
                  <a:cubicBezTo>
                    <a:pt x="84972" y="101778"/>
                    <a:pt x="82944" y="101920"/>
                    <a:pt x="81275" y="101034"/>
                  </a:cubicBezTo>
                  <a:lnTo>
                    <a:pt x="53691" y="86582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6080409" y="1371594"/>
              <a:ext cx="107364" cy="101920"/>
            </a:xfrm>
            <a:custGeom>
              <a:avLst/>
              <a:gdLst/>
              <a:ahLst/>
              <a:cxnLst/>
              <a:rect l="l" t="t" r="r" b="b"/>
              <a:pathLst>
                <a:path w="107364" h="101920">
                  <a:moveTo>
                    <a:pt x="53691" y="86582"/>
                  </a:moveTo>
                  <a:lnTo>
                    <a:pt x="26106" y="101034"/>
                  </a:lnTo>
                  <a:cubicBezTo>
                    <a:pt x="24437" y="101903"/>
                    <a:pt x="22420" y="101756"/>
                    <a:pt x="20894" y="100655"/>
                  </a:cubicBezTo>
                  <a:cubicBezTo>
                    <a:pt x="19368" y="99553"/>
                    <a:pt x="18594" y="97686"/>
                    <a:pt x="18893" y="95827"/>
                  </a:cubicBezTo>
                  <a:lnTo>
                    <a:pt x="24163" y="65208"/>
                  </a:lnTo>
                  <a:lnTo>
                    <a:pt x="1849" y="43529"/>
                  </a:lnTo>
                  <a:cubicBezTo>
                    <a:pt x="490" y="42215"/>
                    <a:pt x="0" y="40241"/>
                    <a:pt x="586" y="38444"/>
                  </a:cubicBezTo>
                  <a:cubicBezTo>
                    <a:pt x="1173" y="36647"/>
                    <a:pt x="2733" y="35343"/>
                    <a:pt x="4605" y="35083"/>
                  </a:cubicBezTo>
                  <a:lnTo>
                    <a:pt x="35441" y="30613"/>
                  </a:lnTo>
                  <a:lnTo>
                    <a:pt x="49233" y="2762"/>
                  </a:lnTo>
                  <a:cubicBezTo>
                    <a:pt x="50074" y="1070"/>
                    <a:pt x="51801" y="0"/>
                    <a:pt x="53691" y="0"/>
                  </a:cubicBezTo>
                  <a:cubicBezTo>
                    <a:pt x="55580" y="0"/>
                    <a:pt x="57307" y="1070"/>
                    <a:pt x="58148" y="2762"/>
                  </a:cubicBezTo>
                  <a:lnTo>
                    <a:pt x="71940" y="30613"/>
                  </a:lnTo>
                  <a:lnTo>
                    <a:pt x="102776" y="35083"/>
                  </a:lnTo>
                  <a:cubicBezTo>
                    <a:pt x="104642" y="35352"/>
                    <a:pt x="106195" y="36657"/>
                    <a:pt x="106779" y="38449"/>
                  </a:cubicBezTo>
                  <a:cubicBezTo>
                    <a:pt x="107364" y="40242"/>
                    <a:pt x="106881" y="42211"/>
                    <a:pt x="105532" y="43529"/>
                  </a:cubicBezTo>
                  <a:lnTo>
                    <a:pt x="83218" y="65208"/>
                  </a:lnTo>
                  <a:lnTo>
                    <a:pt x="88476" y="95815"/>
                  </a:lnTo>
                  <a:cubicBezTo>
                    <a:pt x="88798" y="97677"/>
                    <a:pt x="88032" y="99560"/>
                    <a:pt x="86502" y="100669"/>
                  </a:cubicBezTo>
                  <a:cubicBezTo>
                    <a:pt x="84972" y="101778"/>
                    <a:pt x="82944" y="101920"/>
                    <a:pt x="81275" y="101034"/>
                  </a:cubicBezTo>
                  <a:lnTo>
                    <a:pt x="53691" y="86582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5775293" y="1630680"/>
            <a:ext cx="64141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9A96E"/>
                </a:solidFill>
                <a:latin typeface="Georgia"/>
                <a:ea typeface="KaiTi"/>
                <a:cs typeface="Georgia"/>
              </a:rPr>
              <a:t>星级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19035" y="1800225"/>
            <a:ext cx="115393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1-5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406628" y="2545556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代表同名卡强化程度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619625" y="2952750"/>
            <a:ext cx="295275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604385" y="3156585"/>
            <a:ext cx="1310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同名卡二合一升星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604385" y="3489960"/>
            <a:ext cx="1470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消耗重复卡避免堆积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604385" y="3823335"/>
            <a:ext cx="12946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1张5星 = 16张1星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04385" y="4156710"/>
            <a:ext cx="1310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低级卡的正向反馈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096250" y="1047750"/>
            <a:ext cx="3524250" cy="4953000"/>
          </a:xfrm>
          <a:prstGeom prst="roundRect">
            <a:avLst>
              <a:gd name="adj" fmla="val 3243"/>
            </a:avLst>
          </a:prstGeom>
          <a:solidFill>
            <a:srgbClr val="161B22"/>
          </a:solidFill>
          <a:ln w="14288">
            <a:solidFill>
              <a:srgbClr val="C41E3A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8096250" y="1047750"/>
            <a:ext cx="3524250" cy="381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32" name="Freeform 32"/>
          <p:cNvSpPr/>
          <p:nvPr/>
        </p:nvSpPr>
        <p:spPr>
          <a:xfrm>
            <a:off x="9782175" y="1409700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114300" y="0"/>
                </a:moveTo>
                <a:lnTo>
                  <a:pt x="165100" y="76200"/>
                </a:lnTo>
                <a:lnTo>
                  <a:pt x="228600" y="25400"/>
                </a:lnTo>
                <a:lnTo>
                  <a:pt x="203200" y="152400"/>
                </a:lnTo>
                <a:lnTo>
                  <a:pt x="25400" y="152400"/>
                </a:lnTo>
                <a:lnTo>
                  <a:pt x="0" y="25400"/>
                </a:lnTo>
                <a:lnTo>
                  <a:pt x="63500" y="76200"/>
                </a:lnTo>
                <a:lnTo>
                  <a:pt x="114300" y="0"/>
                </a:lnTo>
              </a:path>
            </a:pathLst>
          </a:custGeom>
          <a:noFill/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537668" y="1630680"/>
            <a:ext cx="64141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41E3A"/>
                </a:solidFill>
                <a:latin typeface="Georgia"/>
                <a:ea typeface="KaiTi"/>
                <a:cs typeface="Georgia"/>
              </a:rPr>
              <a:t>编号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08138" y="1800225"/>
            <a:ext cx="1500473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#001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936474" y="2545556"/>
            <a:ext cx="18438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仅用于12级终极历史事件卡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382000" y="2952750"/>
            <a:ext cx="295275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366760" y="3156585"/>
            <a:ext cx="9345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限量88张/种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66760" y="3489960"/>
            <a:ext cx="9745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100种 × 88张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66760" y="3823335"/>
            <a:ext cx="14066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= 8,800张编号实体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66760" y="4156710"/>
            <a:ext cx="1310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稀缺性与收藏价值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48665" y="6220778"/>
            <a:ext cx="37091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级别代表合成层级 — 星级代表同名强化 — 编号代表终极稀缺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09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96E">
                  <a:alpha val="3000"/>
                </a:srgbClr>
              </a:gs>
              <a:gs pos="100000">
                <a:srgbClr val="C9A96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280035"/>
            <a:ext cx="271491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C9A96E"/>
                </a:solidFill>
                <a:latin typeface="Georgia"/>
                <a:ea typeface="KaiTi"/>
                <a:cs typeface="Georgia"/>
              </a:rPr>
              <a:t>十二级卡牌结构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704850"/>
            <a:ext cx="381000" cy="19050"/>
          </a:xfrm>
          <a:prstGeom prst="rect">
            <a:avLst/>
          </a:prstGeom>
          <a:solidFill>
            <a:srgbClr val="C9A96E">
              <a:alpha val="5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7712" y="926306"/>
            <a:ext cx="37940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从小人物到终极历史事件，12个层级覆盖五千年历史知识</a:t>
            </a:r>
          </a:p>
        </p:txBody>
      </p:sp>
      <p:sp>
        <p:nvSpPr>
          <p:cNvPr id="7" name="Rectangle 7"/>
          <p:cNvSpPr/>
          <p:nvPr/>
        </p:nvSpPr>
        <p:spPr>
          <a:xfrm>
            <a:off x="4953000" y="1333500"/>
            <a:ext cx="2286000" cy="342900"/>
          </a:xfrm>
          <a:prstGeom prst="roundRect">
            <a:avLst>
              <a:gd name="adj" fmla="val 16667"/>
            </a:avLst>
          </a:prstGeom>
          <a:solidFill>
            <a:srgbClr val="C41E3A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402705" y="1448752"/>
            <a:ext cx="13865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12 · 终极历史事件卡</a:t>
            </a:r>
          </a:p>
        </p:txBody>
      </p:sp>
      <p:sp>
        <p:nvSpPr>
          <p:cNvPr id="9" name="Rectangle 9"/>
          <p:cNvSpPr/>
          <p:nvPr/>
        </p:nvSpPr>
        <p:spPr>
          <a:xfrm>
            <a:off x="4762500" y="1733550"/>
            <a:ext cx="2667000" cy="304800"/>
          </a:xfrm>
          <a:prstGeom prst="roundRect">
            <a:avLst>
              <a:gd name="adj" fmla="val 15625"/>
            </a:avLst>
          </a:prstGeom>
          <a:solidFill>
            <a:srgbClr val="161B22"/>
          </a:solidFill>
          <a:ln w="9525">
            <a:solidFill>
              <a:srgbClr val="C9A96E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612309" y="1837849"/>
            <a:ext cx="9673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11 · 终极前置卡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0" y="2095500"/>
            <a:ext cx="3048000" cy="304800"/>
          </a:xfrm>
          <a:prstGeom prst="roundRect">
            <a:avLst>
              <a:gd name="adj" fmla="val 15625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612309" y="2199799"/>
            <a:ext cx="9673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10 · 时代格局卡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43400" y="2457450"/>
            <a:ext cx="3505200" cy="304800"/>
          </a:xfrm>
          <a:prstGeom prst="roundRect">
            <a:avLst>
              <a:gd name="adj" fmla="val 15625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648063" y="2561749"/>
            <a:ext cx="8958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9 · 王朝转折卡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076700" y="2819400"/>
            <a:ext cx="4038600" cy="304800"/>
          </a:xfrm>
          <a:prstGeom prst="roundRect">
            <a:avLst>
              <a:gd name="adj" fmla="val 15625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443287" y="2923699"/>
            <a:ext cx="13054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8 · 大型战役 / 改革卡</a:t>
            </a:r>
          </a:p>
        </p:txBody>
      </p:sp>
      <p:sp>
        <p:nvSpPr>
          <p:cNvPr id="17" name="Rectangle 17"/>
          <p:cNvSpPr/>
          <p:nvPr/>
        </p:nvSpPr>
        <p:spPr>
          <a:xfrm>
            <a:off x="3771900" y="3181350"/>
            <a:ext cx="4648200" cy="304800"/>
          </a:xfrm>
          <a:prstGeom prst="roundRect">
            <a:avLst>
              <a:gd name="adj" fmla="val 15625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518047" y="3285649"/>
            <a:ext cx="11559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7 · 中型历史事件卡</a:t>
            </a:r>
          </a:p>
        </p:txBody>
      </p:sp>
      <p:sp>
        <p:nvSpPr>
          <p:cNvPr id="19" name="Rectangle 19"/>
          <p:cNvSpPr/>
          <p:nvPr/>
        </p:nvSpPr>
        <p:spPr>
          <a:xfrm>
            <a:off x="3429000" y="3543300"/>
            <a:ext cx="5334000" cy="304800"/>
          </a:xfrm>
          <a:prstGeom prst="roundRect">
            <a:avLst>
              <a:gd name="adj" fmla="val 15625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443287" y="3647599"/>
            <a:ext cx="13054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6 · 关键人物 / 制度卡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048000" y="3905250"/>
            <a:ext cx="6096000" cy="304800"/>
          </a:xfrm>
          <a:prstGeom prst="roundRect">
            <a:avLst>
              <a:gd name="adj" fmla="val 15625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648063" y="4009549"/>
            <a:ext cx="8958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5 · 区域事件卡</a:t>
            </a:r>
          </a:p>
        </p:txBody>
      </p:sp>
      <p:sp>
        <p:nvSpPr>
          <p:cNvPr id="23" name="Rectangle 23"/>
          <p:cNvSpPr/>
          <p:nvPr/>
        </p:nvSpPr>
        <p:spPr>
          <a:xfrm>
            <a:off x="2628900" y="4267200"/>
            <a:ext cx="6934200" cy="304800"/>
          </a:xfrm>
          <a:prstGeom prst="roundRect">
            <a:avLst>
              <a:gd name="adj" fmla="val 15625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713071" y="4371499"/>
            <a:ext cx="7658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4 · 小事件卡</a:t>
            </a:r>
          </a:p>
        </p:txBody>
      </p:sp>
      <p:sp>
        <p:nvSpPr>
          <p:cNvPr id="25" name="Rectangle 25"/>
          <p:cNvSpPr/>
          <p:nvPr/>
        </p:nvSpPr>
        <p:spPr>
          <a:xfrm>
            <a:off x="2171700" y="4629150"/>
            <a:ext cx="7848600" cy="304800"/>
          </a:xfrm>
          <a:prstGeom prst="roundRect">
            <a:avLst>
              <a:gd name="adj" fmla="val 15625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648063" y="4733449"/>
            <a:ext cx="8958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3 · 人物关系卡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1676400" y="4991100"/>
            <a:ext cx="8839200" cy="304800"/>
          </a:xfrm>
          <a:prstGeom prst="roundRect">
            <a:avLst>
              <a:gd name="adj" fmla="val 15625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5378279" y="5095399"/>
            <a:ext cx="14354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2 · 初级人物 / 初级事件</a:t>
            </a:r>
          </a:p>
        </p:txBody>
      </p:sp>
      <p:sp>
        <p:nvSpPr>
          <p:cNvPr id="29" name="Rectangle 29"/>
          <p:cNvSpPr/>
          <p:nvPr/>
        </p:nvSpPr>
        <p:spPr>
          <a:xfrm>
            <a:off x="1143000" y="5353050"/>
            <a:ext cx="9906000" cy="304800"/>
          </a:xfrm>
          <a:prstGeom prst="roundRect">
            <a:avLst>
              <a:gd name="adj" fmla="val 15625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152876" y="5457349"/>
            <a:ext cx="38862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1 · 基础历史元素（小人物、地名、器物、官职、制度词、势力名）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8665" y="5982652"/>
            <a:ext cx="58583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示例低级卡内容：纪信、周苛、夏侯婴、灌婴、章邯、荥阳、成皋、鸿沟、函谷关、郡县制···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10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96E">
                  <a:alpha val="3000"/>
                </a:srgbClr>
              </a:gs>
              <a:gs pos="100000">
                <a:srgbClr val="C9A96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28003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C9A96E"/>
                </a:solidFill>
                <a:latin typeface="Georgia"/>
                <a:ea typeface="KaiTi"/>
                <a:cs typeface="Georgia"/>
              </a:rPr>
              <a:t>卡牌数量规划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704850"/>
            <a:ext cx="381000" cy="19050"/>
          </a:xfrm>
          <a:prstGeom prst="rect">
            <a:avLst/>
          </a:prstGeom>
          <a:solidFill>
            <a:srgbClr val="C9A96E">
              <a:alpha val="5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952500"/>
            <a:ext cx="5715000" cy="5143500"/>
          </a:xfrm>
          <a:prstGeom prst="roundRect">
            <a:avLst>
              <a:gd name="adj" fmla="val 2222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779871" y="11715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各级母卡数量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524000"/>
            <a:ext cx="2667000" cy="28575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9165" y="161067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级别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50610" y="1610678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母卡数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1809750"/>
            <a:ext cx="266700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39165" y="1963102"/>
            <a:ext cx="9647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1级 · 基础元素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22636" y="1963102"/>
            <a:ext cx="2576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480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9165" y="2248852"/>
            <a:ext cx="13218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2级 · 初级人物/事件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422636" y="2248852"/>
            <a:ext cx="2576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360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9165" y="2534602"/>
            <a:ext cx="9647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3级 · 人物关系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22636" y="2534602"/>
            <a:ext cx="2576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280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9165" y="2820352"/>
            <a:ext cx="8247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4级 · 小事件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422636" y="2820352"/>
            <a:ext cx="2576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220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9165" y="3106102"/>
            <a:ext cx="9647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5级 · 区域事件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22636" y="3106102"/>
            <a:ext cx="2576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180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9165" y="3391852"/>
            <a:ext cx="13218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6级 · 关键人物/制度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422636" y="3391852"/>
            <a:ext cx="2576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140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9165" y="3677602"/>
            <a:ext cx="9647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7级 · 中型事件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422636" y="3677602"/>
            <a:ext cx="2576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110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9165" y="3963352"/>
            <a:ext cx="11818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8级 · 大战役/改革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99646" y="39633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90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9165" y="4249102"/>
            <a:ext cx="9647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9级 · 王朝转折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499646" y="42491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70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9165" y="4534852"/>
            <a:ext cx="10417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10级 · 时代格局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499646" y="45348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9165" y="4820602"/>
            <a:ext cx="10417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11级 · 终极前置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499646" y="48206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39165" y="5106352"/>
            <a:ext cx="11818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12级 · 终极事件卡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422636" y="5106352"/>
            <a:ext cx="2576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100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2000" y="5429250"/>
            <a:ext cx="2667000" cy="19050"/>
          </a:xfrm>
          <a:prstGeom prst="rect">
            <a:avLst/>
          </a:prstGeom>
          <a:solidFill>
            <a:srgbClr val="C9A96E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37260" y="553783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合计母卡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070378" y="5505450"/>
            <a:ext cx="6156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b="1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2,130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572250" y="952500"/>
            <a:ext cx="5048250" cy="5143500"/>
          </a:xfrm>
          <a:prstGeom prst="roundRect">
            <a:avLst>
              <a:gd name="adj" fmla="val 2264"/>
            </a:avLst>
          </a:prstGeom>
          <a:solidFill>
            <a:srgbClr val="161B22"/>
          </a:solidFill>
          <a:ln w="9525">
            <a:solidFill>
              <a:srgbClr val="C41E3A"/>
            </a:solidFill>
          </a:ln>
        </p:spPr>
      </p:sp>
      <p:sp>
        <p:nvSpPr>
          <p:cNvPr id="40" name="Freeform 40"/>
          <p:cNvSpPr/>
          <p:nvPr/>
        </p:nvSpPr>
        <p:spPr>
          <a:xfrm>
            <a:off x="8939212" y="1304925"/>
            <a:ext cx="200025" cy="133350"/>
          </a:xfrm>
          <a:custGeom>
            <a:avLst/>
            <a:gdLst/>
            <a:ahLst/>
            <a:cxnLst/>
            <a:rect l="l" t="t" r="r" b="b"/>
            <a:pathLst>
              <a:path w="200025" h="133350">
                <a:moveTo>
                  <a:pt x="100012" y="0"/>
                </a:moveTo>
                <a:lnTo>
                  <a:pt x="144462" y="66675"/>
                </a:lnTo>
                <a:lnTo>
                  <a:pt x="200025" y="22225"/>
                </a:lnTo>
                <a:lnTo>
                  <a:pt x="177800" y="133350"/>
                </a:lnTo>
                <a:lnTo>
                  <a:pt x="22225" y="133350"/>
                </a:lnTo>
                <a:lnTo>
                  <a:pt x="0" y="22225"/>
                </a:lnTo>
                <a:lnTo>
                  <a:pt x="55563" y="66675"/>
                </a:lnTo>
                <a:lnTo>
                  <a:pt x="100012" y="0"/>
                </a:lnTo>
              </a:path>
            </a:pathLst>
          </a:custGeom>
          <a:noFill/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077325" y="126682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终极编号卡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858000" y="1714500"/>
            <a:ext cx="447675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842760" y="1965960"/>
            <a:ext cx="8305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终极卡种类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752201" y="1965960"/>
            <a:ext cx="50253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100 种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842760" y="2346960"/>
            <a:ext cx="670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每种限量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840212" y="2346960"/>
            <a:ext cx="4145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88 张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858000" y="2667000"/>
            <a:ext cx="447675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842760" y="2918460"/>
            <a:ext cx="670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总发行量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195912" y="2853690"/>
            <a:ext cx="106644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8,800 张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858000" y="3333750"/>
            <a:ext cx="447675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838950" y="3648075"/>
            <a:ext cx="16763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100 × 88 = 8,800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844665" y="4077652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母卡素材与编号实体卡的区别：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844665" y="4363402"/>
            <a:ext cx="35761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· 母卡素材：AI生成的不同卡牌原画（100张终极卡母图）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844665" y="4649152"/>
            <a:ext cx="31910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· 编号实体卡：后端发行的限量编号卡（8,800张）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844665" y="4934902"/>
            <a:ext cx="33590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· 每张终极卡动态叠加编号（#001/088 ~ #088/088）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11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96E">
                  <a:alpha val="4000"/>
                </a:srgbClr>
              </a:gs>
              <a:gs pos="100000">
                <a:srgbClr val="C9A96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7700" y="2266950"/>
            <a:ext cx="1614773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0" b="1" dirty="0">
                <a:solidFill>
                  <a:srgbClr val="C9A96E">
                    <a:alphaMod val="15000"/>
                  </a:srgbClr>
                </a:solidFill>
                <a:latin typeface="Georgia"/>
                <a:ea typeface="KaiTi"/>
                <a:cs typeface="Georgia"/>
              </a:rPr>
              <a:t>04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3714750"/>
            <a:ext cx="762000" cy="28575"/>
          </a:xfrm>
          <a:prstGeom prst="rect">
            <a:avLst/>
          </a:prstGeom>
          <a:solidFill>
            <a:srgbClr val="C9A96E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16280" y="3802380"/>
            <a:ext cx="361988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E6E1D8"/>
                </a:solidFill>
                <a:latin typeface="Georgia"/>
                <a:ea typeface="KaiTi"/>
                <a:cs typeface="Georgia"/>
              </a:rPr>
              <a:t>抽卡与星级系统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7235" y="4551998"/>
            <a:ext cx="375499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每日 30+ 次抽卡 · 5 星强化体系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12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96E">
                  <a:alpha val="3000"/>
                </a:srgbClr>
              </a:gs>
              <a:gs pos="100000">
                <a:srgbClr val="C9A96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28003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C9A96E"/>
                </a:solidFill>
                <a:latin typeface="Georgia"/>
                <a:ea typeface="KaiTi"/>
                <a:cs typeface="Georgia"/>
              </a:rPr>
              <a:t>抽卡系统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704850"/>
            <a:ext cx="381000" cy="19050"/>
          </a:xfrm>
          <a:prstGeom prst="rect">
            <a:avLst/>
          </a:prstGeom>
          <a:solidFill>
            <a:srgbClr val="C9A96E">
              <a:alpha val="5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00125"/>
            <a:ext cx="3714750" cy="2667000"/>
          </a:xfrm>
          <a:prstGeom prst="roundRect">
            <a:avLst>
              <a:gd name="adj" fmla="val 4286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890588" y="1414080"/>
            <a:ext cx="200025" cy="200407"/>
            <a:chOff x="890588" y="1414080"/>
            <a:chExt cx="200025" cy="200407"/>
          </a:xfrm>
        </p:grpSpPr>
        <p:sp>
          <p:nvSpPr>
            <p:cNvPr id="7" name="Freeform 7"/>
            <p:cNvSpPr/>
            <p:nvPr/>
          </p:nvSpPr>
          <p:spPr>
            <a:xfrm>
              <a:off x="890588" y="1470025"/>
              <a:ext cx="200025" cy="44450"/>
            </a:xfrm>
            <a:custGeom>
              <a:avLst/>
              <a:gdLst/>
              <a:ahLst/>
              <a:cxnLst/>
              <a:rect l="l" t="t" r="r" b="b"/>
              <a:pathLst>
                <a:path w="200025" h="44450">
                  <a:moveTo>
                    <a:pt x="0" y="11112"/>
                  </a:moveTo>
                  <a:cubicBezTo>
                    <a:pt x="0" y="4975"/>
                    <a:pt x="4975" y="0"/>
                    <a:pt x="11113" y="0"/>
                  </a:cubicBezTo>
                  <a:lnTo>
                    <a:pt x="188913" y="0"/>
                  </a:lnTo>
                  <a:cubicBezTo>
                    <a:pt x="195050" y="0"/>
                    <a:pt x="200025" y="4975"/>
                    <a:pt x="200025" y="11112"/>
                  </a:cubicBezTo>
                  <a:lnTo>
                    <a:pt x="200025" y="33338"/>
                  </a:lnTo>
                  <a:cubicBezTo>
                    <a:pt x="200025" y="39475"/>
                    <a:pt x="195050" y="44450"/>
                    <a:pt x="188913" y="44450"/>
                  </a:cubicBezTo>
                  <a:lnTo>
                    <a:pt x="11113" y="44450"/>
                  </a:lnTo>
                  <a:cubicBezTo>
                    <a:pt x="4975" y="44450"/>
                    <a:pt x="0" y="39475"/>
                    <a:pt x="0" y="33338"/>
                  </a:cubicBezTo>
                  <a:lnTo>
                    <a:pt x="0" y="11112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990600" y="1470025"/>
              <a:ext cx="9525" cy="144462"/>
            </a:xfrm>
            <a:custGeom>
              <a:avLst/>
              <a:gdLst/>
              <a:ahLst/>
              <a:cxnLst/>
              <a:rect l="l" t="t" r="r" b="b"/>
              <a:pathLst>
                <a:path w="9525" h="144462">
                  <a:moveTo>
                    <a:pt x="0" y="0"/>
                  </a:moveTo>
                  <a:lnTo>
                    <a:pt x="0" y="144462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12812" y="1514475"/>
              <a:ext cx="155575" cy="100012"/>
            </a:xfrm>
            <a:custGeom>
              <a:avLst/>
              <a:gdLst/>
              <a:ahLst/>
              <a:cxnLst/>
              <a:rect l="l" t="t" r="r" b="b"/>
              <a:pathLst>
                <a:path w="155575" h="100012">
                  <a:moveTo>
                    <a:pt x="155575" y="0"/>
                  </a:moveTo>
                  <a:lnTo>
                    <a:pt x="155575" y="77787"/>
                  </a:lnTo>
                  <a:cubicBezTo>
                    <a:pt x="155575" y="90062"/>
                    <a:pt x="145625" y="100012"/>
                    <a:pt x="133350" y="100012"/>
                  </a:cubicBezTo>
                  <a:lnTo>
                    <a:pt x="22225" y="100012"/>
                  </a:lnTo>
                  <a:cubicBezTo>
                    <a:pt x="9950" y="100012"/>
                    <a:pt x="0" y="90062"/>
                    <a:pt x="0" y="77787"/>
                  </a:cubicBez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912812" y="1414080"/>
              <a:ext cx="155575" cy="55945"/>
            </a:xfrm>
            <a:custGeom>
              <a:avLst/>
              <a:gdLst/>
              <a:ahLst/>
              <a:cxnLst/>
              <a:rect l="l" t="t" r="r" b="b"/>
              <a:pathLst>
                <a:path w="155575" h="55945">
                  <a:moveTo>
                    <a:pt x="27781" y="55945"/>
                  </a:moveTo>
                  <a:cubicBezTo>
                    <a:pt x="12438" y="55945"/>
                    <a:pt x="0" y="43507"/>
                    <a:pt x="0" y="28163"/>
                  </a:cubicBezTo>
                  <a:cubicBezTo>
                    <a:pt x="0" y="12820"/>
                    <a:pt x="12438" y="382"/>
                    <a:pt x="27781" y="382"/>
                  </a:cubicBezTo>
                  <a:cubicBezTo>
                    <a:pt x="49720" y="0"/>
                    <a:pt x="69561" y="22046"/>
                    <a:pt x="77788" y="55945"/>
                  </a:cubicBezTo>
                  <a:cubicBezTo>
                    <a:pt x="86014" y="22046"/>
                    <a:pt x="105855" y="0"/>
                    <a:pt x="127794" y="382"/>
                  </a:cubicBezTo>
                  <a:cubicBezTo>
                    <a:pt x="143137" y="382"/>
                    <a:pt x="155575" y="12820"/>
                    <a:pt x="155575" y="28163"/>
                  </a:cubicBezTo>
                  <a:cubicBezTo>
                    <a:pt x="155575" y="43507"/>
                    <a:pt x="143137" y="55945"/>
                    <a:pt x="127794" y="55945"/>
                  </a:cubicBez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219200" y="1409700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每日抽卡来源</a:t>
            </a:r>
          </a:p>
        </p:txBody>
      </p:sp>
      <p:sp>
        <p:nvSpPr>
          <p:cNvPr id="13" name="Rectangle 13"/>
          <p:cNvSpPr/>
          <p:nvPr/>
        </p:nvSpPr>
        <p:spPr>
          <a:xfrm>
            <a:off x="857250" y="1762125"/>
            <a:ext cx="314325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42010" y="1918335"/>
            <a:ext cx="670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每日登录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01212" y="1918335"/>
            <a:ext cx="4145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20 次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2010" y="2251710"/>
            <a:ext cx="670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分享奖励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601212" y="2251710"/>
            <a:ext cx="4145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+5 次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2010" y="2585085"/>
            <a:ext cx="990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激励视频广告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37179" y="2585085"/>
            <a:ext cx="6785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+5~10 次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2010" y="2918460"/>
            <a:ext cx="670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每日任务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345180" y="2918460"/>
            <a:ext cx="670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小额补充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57250" y="3238500"/>
            <a:ext cx="314325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40105" y="3359468"/>
            <a:ext cx="17449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每日上限：30-35 次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524375" y="1000125"/>
            <a:ext cx="7048500" cy="2667000"/>
          </a:xfrm>
          <a:prstGeom prst="roundRect">
            <a:avLst>
              <a:gd name="adj" fmla="val 4286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grpSp>
        <p:nvGrpSpPr>
          <p:cNvPr id="30" name="Group 30"/>
          <p:cNvGrpSpPr/>
          <p:nvPr/>
        </p:nvGrpSpPr>
        <p:grpSpPr>
          <a:xfrm>
            <a:off x="4843462" y="1414462"/>
            <a:ext cx="200025" cy="200025"/>
            <a:chOff x="4843462" y="1414462"/>
            <a:chExt cx="200025" cy="200025"/>
          </a:xfrm>
        </p:grpSpPr>
        <p:sp>
          <p:nvSpPr>
            <p:cNvPr id="25" name="Freeform 25"/>
            <p:cNvSpPr/>
            <p:nvPr/>
          </p:nvSpPr>
          <p:spPr>
            <a:xfrm>
              <a:off x="4843462" y="1414462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200025" h="200025">
                  <a:moveTo>
                    <a:pt x="0" y="22225"/>
                  </a:moveTo>
                  <a:cubicBezTo>
                    <a:pt x="0" y="9950"/>
                    <a:pt x="9950" y="0"/>
                    <a:pt x="22225" y="0"/>
                  </a:cubicBezTo>
                  <a:lnTo>
                    <a:pt x="177800" y="0"/>
                  </a:lnTo>
                  <a:cubicBezTo>
                    <a:pt x="190075" y="0"/>
                    <a:pt x="200025" y="9950"/>
                    <a:pt x="200025" y="22225"/>
                  </a:cubicBezTo>
                  <a:lnTo>
                    <a:pt x="200025" y="177800"/>
                  </a:lnTo>
                  <a:cubicBezTo>
                    <a:pt x="200025" y="190075"/>
                    <a:pt x="190075" y="200025"/>
                    <a:pt x="177800" y="200025"/>
                  </a:cubicBezTo>
                  <a:lnTo>
                    <a:pt x="22225" y="200025"/>
                  </a:lnTo>
                  <a:cubicBezTo>
                    <a:pt x="9950" y="200025"/>
                    <a:pt x="0" y="190075"/>
                    <a:pt x="0" y="177800"/>
                  </a:cubicBezTo>
                  <a:lnTo>
                    <a:pt x="0" y="22225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4899025" y="1470025"/>
              <a:ext cx="11112" cy="11112"/>
            </a:xfrm>
            <a:custGeom>
              <a:avLst/>
              <a:gdLst/>
              <a:ahLst/>
              <a:cxnLst/>
              <a:rect l="l" t="t" r="r" b="b"/>
              <a:pathLst>
                <a:path w="11112" h="11112">
                  <a:moveTo>
                    <a:pt x="0" y="5556"/>
                  </a:moveTo>
                  <a:cubicBezTo>
                    <a:pt x="0" y="8625"/>
                    <a:pt x="2488" y="11112"/>
                    <a:pt x="5556" y="11112"/>
                  </a:cubicBezTo>
                  <a:cubicBezTo>
                    <a:pt x="8625" y="11112"/>
                    <a:pt x="11112" y="8625"/>
                    <a:pt x="11112" y="5556"/>
                  </a:cubicBezTo>
                  <a:cubicBezTo>
                    <a:pt x="11112" y="2488"/>
                    <a:pt x="8625" y="0"/>
                    <a:pt x="5556" y="0"/>
                  </a:cubicBezTo>
                  <a:cubicBezTo>
                    <a:pt x="2488" y="0"/>
                    <a:pt x="0" y="2488"/>
                    <a:pt x="0" y="5556"/>
                  </a:cubicBezTo>
                </a:path>
              </a:pathLst>
            </a:custGeom>
            <a:noFill/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976812" y="1470025"/>
              <a:ext cx="11112" cy="11112"/>
            </a:xfrm>
            <a:custGeom>
              <a:avLst/>
              <a:gdLst/>
              <a:ahLst/>
              <a:cxnLst/>
              <a:rect l="l" t="t" r="r" b="b"/>
              <a:pathLst>
                <a:path w="11112" h="11112">
                  <a:moveTo>
                    <a:pt x="0" y="5556"/>
                  </a:moveTo>
                  <a:cubicBezTo>
                    <a:pt x="0" y="8625"/>
                    <a:pt x="2488" y="11112"/>
                    <a:pt x="5556" y="11112"/>
                  </a:cubicBezTo>
                  <a:cubicBezTo>
                    <a:pt x="8625" y="11112"/>
                    <a:pt x="11112" y="8625"/>
                    <a:pt x="11112" y="5556"/>
                  </a:cubicBezTo>
                  <a:cubicBezTo>
                    <a:pt x="11112" y="2488"/>
                    <a:pt x="8625" y="0"/>
                    <a:pt x="5556" y="0"/>
                  </a:cubicBezTo>
                  <a:cubicBezTo>
                    <a:pt x="2488" y="0"/>
                    <a:pt x="0" y="2488"/>
                    <a:pt x="0" y="5556"/>
                  </a:cubicBezTo>
                </a:path>
              </a:pathLst>
            </a:custGeom>
            <a:noFill/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4976812" y="1547812"/>
              <a:ext cx="11112" cy="11112"/>
            </a:xfrm>
            <a:custGeom>
              <a:avLst/>
              <a:gdLst/>
              <a:ahLst/>
              <a:cxnLst/>
              <a:rect l="l" t="t" r="r" b="b"/>
              <a:pathLst>
                <a:path w="11112" h="11112">
                  <a:moveTo>
                    <a:pt x="0" y="5556"/>
                  </a:moveTo>
                  <a:cubicBezTo>
                    <a:pt x="0" y="8625"/>
                    <a:pt x="2488" y="11112"/>
                    <a:pt x="5556" y="11112"/>
                  </a:cubicBezTo>
                  <a:cubicBezTo>
                    <a:pt x="8625" y="11112"/>
                    <a:pt x="11112" y="8625"/>
                    <a:pt x="11112" y="5556"/>
                  </a:cubicBezTo>
                  <a:cubicBezTo>
                    <a:pt x="11112" y="2488"/>
                    <a:pt x="8625" y="0"/>
                    <a:pt x="5556" y="0"/>
                  </a:cubicBezTo>
                  <a:cubicBezTo>
                    <a:pt x="2488" y="0"/>
                    <a:pt x="0" y="2488"/>
                    <a:pt x="0" y="5556"/>
                  </a:cubicBezTo>
                </a:path>
              </a:pathLst>
            </a:custGeom>
            <a:noFill/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4899025" y="1547812"/>
              <a:ext cx="11112" cy="11112"/>
            </a:xfrm>
            <a:custGeom>
              <a:avLst/>
              <a:gdLst/>
              <a:ahLst/>
              <a:cxnLst/>
              <a:rect l="l" t="t" r="r" b="b"/>
              <a:pathLst>
                <a:path w="11112" h="11112">
                  <a:moveTo>
                    <a:pt x="0" y="5556"/>
                  </a:moveTo>
                  <a:cubicBezTo>
                    <a:pt x="0" y="8625"/>
                    <a:pt x="2488" y="11112"/>
                    <a:pt x="5556" y="11112"/>
                  </a:cubicBezTo>
                  <a:cubicBezTo>
                    <a:pt x="8625" y="11112"/>
                    <a:pt x="11112" y="8625"/>
                    <a:pt x="11112" y="5556"/>
                  </a:cubicBezTo>
                  <a:cubicBezTo>
                    <a:pt x="11112" y="2488"/>
                    <a:pt x="8625" y="0"/>
                    <a:pt x="5556" y="0"/>
                  </a:cubicBezTo>
                  <a:cubicBezTo>
                    <a:pt x="2488" y="0"/>
                    <a:pt x="0" y="2488"/>
                    <a:pt x="0" y="5556"/>
                  </a:cubicBez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5172075" y="1409700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卡池分层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810125" y="1809750"/>
            <a:ext cx="1524000" cy="7620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2A252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191244" y="19821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每日基础池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322463" y="2228374"/>
            <a:ext cx="4993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1-2级卡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524625" y="1809750"/>
            <a:ext cx="1524000" cy="7620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2A252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6905744" y="19821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朝代主题池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36963" y="2228374"/>
            <a:ext cx="4993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1-3级卡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239125" y="1809750"/>
            <a:ext cx="1524000" cy="7620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2A2520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8620244" y="19821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事件主题池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751463" y="2228374"/>
            <a:ext cx="4993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2-4级卡</a:t>
            </a:r>
          </a:p>
        </p:txBody>
      </p:sp>
      <p:sp>
        <p:nvSpPr>
          <p:cNvPr id="41" name="Rectangle 41"/>
          <p:cNvSpPr/>
          <p:nvPr/>
        </p:nvSpPr>
        <p:spPr>
          <a:xfrm>
            <a:off x="4810125" y="2762250"/>
            <a:ext cx="1524000" cy="7620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2A2520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5191244" y="29346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新手保护池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192447" y="3180874"/>
            <a:ext cx="7593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1-2级关键卡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524625" y="2762250"/>
            <a:ext cx="1524000" cy="7620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C41E3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6979253" y="2934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终极卡池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949202" y="3180874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不开放抽卡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" y="3857625"/>
            <a:ext cx="11049000" cy="2476500"/>
          </a:xfrm>
          <a:prstGeom prst="roundRect">
            <a:avLst>
              <a:gd name="adj" fmla="val 4615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838200" y="4076700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活跃卡池机制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42962" y="4450556"/>
            <a:ext cx="55942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全量卡池 vs 每期活跃池：避免 1 级 480 张全进池导致抽不到重复卡，升星失去爽感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42010" y="4823460"/>
            <a:ext cx="23107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1级全量 480 → 每期活跃 80-120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42010" y="5109210"/>
            <a:ext cx="22227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2级全量 360 → 每期活跃 50-80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747260" y="4823460"/>
            <a:ext cx="22227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3级全量 280 → 每期活跃 40-60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747260" y="5109210"/>
            <a:ext cx="19027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4级以上 → 逐级缩减活跃量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43915" y="5506402"/>
            <a:ext cx="3702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核心原则：普通池只出 1-2 级卡，高级卡主要通过合成获得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13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96E">
                  <a:alpha val="3000"/>
                </a:srgbClr>
              </a:gs>
              <a:gs pos="100000">
                <a:srgbClr val="C9A96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28003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C9A96E"/>
                </a:solidFill>
                <a:latin typeface="Georgia"/>
                <a:ea typeface="KaiTi"/>
                <a:cs typeface="Georgia"/>
              </a:rPr>
              <a:t>星级系统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704850"/>
            <a:ext cx="381000" cy="19050"/>
          </a:xfrm>
          <a:prstGeom prst="rect">
            <a:avLst/>
          </a:prstGeom>
          <a:solidFill>
            <a:srgbClr val="C9A96E">
              <a:alpha val="5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00125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grpSp>
        <p:nvGrpSpPr>
          <p:cNvPr id="10" name="Group 10"/>
          <p:cNvGrpSpPr/>
          <p:nvPr/>
        </p:nvGrpSpPr>
        <p:grpSpPr>
          <a:xfrm>
            <a:off x="2974668" y="1271582"/>
            <a:ext cx="222849" cy="200305"/>
            <a:chOff x="2974668" y="1271582"/>
            <a:chExt cx="222849" cy="200305"/>
          </a:xfrm>
        </p:grpSpPr>
        <p:sp>
          <p:nvSpPr>
            <p:cNvPr id="7" name="Freeform 7"/>
            <p:cNvSpPr/>
            <p:nvPr/>
          </p:nvSpPr>
          <p:spPr>
            <a:xfrm>
              <a:off x="3103573" y="1382707"/>
              <a:ext cx="93944" cy="89180"/>
            </a:xfrm>
            <a:custGeom>
              <a:avLst/>
              <a:gdLst/>
              <a:ahLst/>
              <a:cxnLst/>
              <a:rect l="l" t="t" r="r" b="b"/>
              <a:pathLst>
                <a:path w="93944" h="89180">
                  <a:moveTo>
                    <a:pt x="46979" y="75759"/>
                  </a:moveTo>
                  <a:lnTo>
                    <a:pt x="22843" y="88405"/>
                  </a:lnTo>
                  <a:cubicBezTo>
                    <a:pt x="21382" y="89165"/>
                    <a:pt x="19618" y="89037"/>
                    <a:pt x="18282" y="88073"/>
                  </a:cubicBezTo>
                  <a:cubicBezTo>
                    <a:pt x="16947" y="87109"/>
                    <a:pt x="16269" y="85475"/>
                    <a:pt x="16531" y="83849"/>
                  </a:cubicBezTo>
                  <a:lnTo>
                    <a:pt x="21143" y="57057"/>
                  </a:lnTo>
                  <a:lnTo>
                    <a:pt x="1618" y="38088"/>
                  </a:lnTo>
                  <a:cubicBezTo>
                    <a:pt x="429" y="36938"/>
                    <a:pt x="0" y="35211"/>
                    <a:pt x="513" y="33639"/>
                  </a:cubicBezTo>
                  <a:cubicBezTo>
                    <a:pt x="1026" y="32067"/>
                    <a:pt x="2391" y="30925"/>
                    <a:pt x="4029" y="30698"/>
                  </a:cubicBezTo>
                  <a:lnTo>
                    <a:pt x="31011" y="26786"/>
                  </a:lnTo>
                  <a:lnTo>
                    <a:pt x="43079" y="2417"/>
                  </a:lnTo>
                  <a:cubicBezTo>
                    <a:pt x="43815" y="936"/>
                    <a:pt x="45326" y="0"/>
                    <a:pt x="46979" y="0"/>
                  </a:cubicBezTo>
                  <a:cubicBezTo>
                    <a:pt x="48633" y="0"/>
                    <a:pt x="50144" y="936"/>
                    <a:pt x="50880" y="2417"/>
                  </a:cubicBezTo>
                  <a:lnTo>
                    <a:pt x="62948" y="26786"/>
                  </a:lnTo>
                  <a:lnTo>
                    <a:pt x="89929" y="30698"/>
                  </a:lnTo>
                  <a:cubicBezTo>
                    <a:pt x="91562" y="30933"/>
                    <a:pt x="92920" y="32075"/>
                    <a:pt x="93432" y="33643"/>
                  </a:cubicBezTo>
                  <a:cubicBezTo>
                    <a:pt x="93944" y="35212"/>
                    <a:pt x="93521" y="36935"/>
                    <a:pt x="92340" y="38088"/>
                  </a:cubicBezTo>
                  <a:lnTo>
                    <a:pt x="72816" y="57057"/>
                  </a:lnTo>
                  <a:lnTo>
                    <a:pt x="77416" y="83838"/>
                  </a:lnTo>
                  <a:cubicBezTo>
                    <a:pt x="77698" y="85467"/>
                    <a:pt x="77028" y="87115"/>
                    <a:pt x="75689" y="88085"/>
                  </a:cubicBezTo>
                  <a:cubicBezTo>
                    <a:pt x="74351" y="89056"/>
                    <a:pt x="72576" y="89180"/>
                    <a:pt x="71116" y="88405"/>
                  </a:cubicBezTo>
                  <a:lnTo>
                    <a:pt x="46979" y="75759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2974668" y="1382707"/>
              <a:ext cx="93944" cy="89180"/>
            </a:xfrm>
            <a:custGeom>
              <a:avLst/>
              <a:gdLst/>
              <a:ahLst/>
              <a:cxnLst/>
              <a:rect l="l" t="t" r="r" b="b"/>
              <a:pathLst>
                <a:path w="93944" h="89180">
                  <a:moveTo>
                    <a:pt x="46979" y="75759"/>
                  </a:moveTo>
                  <a:lnTo>
                    <a:pt x="22843" y="88405"/>
                  </a:lnTo>
                  <a:cubicBezTo>
                    <a:pt x="21382" y="89165"/>
                    <a:pt x="19618" y="89037"/>
                    <a:pt x="18282" y="88073"/>
                  </a:cubicBezTo>
                  <a:cubicBezTo>
                    <a:pt x="16947" y="87109"/>
                    <a:pt x="16269" y="85475"/>
                    <a:pt x="16531" y="83849"/>
                  </a:cubicBezTo>
                  <a:lnTo>
                    <a:pt x="21143" y="57057"/>
                  </a:lnTo>
                  <a:lnTo>
                    <a:pt x="1618" y="38088"/>
                  </a:lnTo>
                  <a:cubicBezTo>
                    <a:pt x="429" y="36938"/>
                    <a:pt x="0" y="35211"/>
                    <a:pt x="513" y="33639"/>
                  </a:cubicBezTo>
                  <a:cubicBezTo>
                    <a:pt x="1026" y="32067"/>
                    <a:pt x="2391" y="30925"/>
                    <a:pt x="4029" y="30698"/>
                  </a:cubicBezTo>
                  <a:lnTo>
                    <a:pt x="31011" y="26786"/>
                  </a:lnTo>
                  <a:lnTo>
                    <a:pt x="43079" y="2417"/>
                  </a:lnTo>
                  <a:cubicBezTo>
                    <a:pt x="43815" y="936"/>
                    <a:pt x="45326" y="0"/>
                    <a:pt x="46979" y="0"/>
                  </a:cubicBezTo>
                  <a:cubicBezTo>
                    <a:pt x="48633" y="0"/>
                    <a:pt x="50144" y="936"/>
                    <a:pt x="50880" y="2417"/>
                  </a:cubicBezTo>
                  <a:lnTo>
                    <a:pt x="62948" y="26786"/>
                  </a:lnTo>
                  <a:lnTo>
                    <a:pt x="89929" y="30698"/>
                  </a:lnTo>
                  <a:cubicBezTo>
                    <a:pt x="91562" y="30933"/>
                    <a:pt x="92920" y="32075"/>
                    <a:pt x="93432" y="33643"/>
                  </a:cubicBezTo>
                  <a:cubicBezTo>
                    <a:pt x="93944" y="35212"/>
                    <a:pt x="93521" y="36935"/>
                    <a:pt x="92340" y="38088"/>
                  </a:cubicBezTo>
                  <a:lnTo>
                    <a:pt x="72816" y="57057"/>
                  </a:lnTo>
                  <a:lnTo>
                    <a:pt x="77416" y="83838"/>
                  </a:lnTo>
                  <a:cubicBezTo>
                    <a:pt x="77698" y="85467"/>
                    <a:pt x="77028" y="87115"/>
                    <a:pt x="75689" y="88085"/>
                  </a:cubicBezTo>
                  <a:cubicBezTo>
                    <a:pt x="74351" y="89056"/>
                    <a:pt x="72576" y="89180"/>
                    <a:pt x="71116" y="88405"/>
                  </a:cubicBezTo>
                  <a:lnTo>
                    <a:pt x="46979" y="75759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039121" y="1271582"/>
              <a:ext cx="93944" cy="89180"/>
            </a:xfrm>
            <a:custGeom>
              <a:avLst/>
              <a:gdLst/>
              <a:ahLst/>
              <a:cxnLst/>
              <a:rect l="l" t="t" r="r" b="b"/>
              <a:pathLst>
                <a:path w="93944" h="89180">
                  <a:moveTo>
                    <a:pt x="46979" y="75759"/>
                  </a:moveTo>
                  <a:lnTo>
                    <a:pt x="22843" y="88405"/>
                  </a:lnTo>
                  <a:cubicBezTo>
                    <a:pt x="21382" y="89165"/>
                    <a:pt x="19618" y="89037"/>
                    <a:pt x="18282" y="88073"/>
                  </a:cubicBezTo>
                  <a:cubicBezTo>
                    <a:pt x="16947" y="87109"/>
                    <a:pt x="16269" y="85475"/>
                    <a:pt x="16531" y="83849"/>
                  </a:cubicBezTo>
                  <a:lnTo>
                    <a:pt x="21143" y="57057"/>
                  </a:lnTo>
                  <a:lnTo>
                    <a:pt x="1618" y="38088"/>
                  </a:lnTo>
                  <a:cubicBezTo>
                    <a:pt x="429" y="36938"/>
                    <a:pt x="0" y="35211"/>
                    <a:pt x="513" y="33639"/>
                  </a:cubicBezTo>
                  <a:cubicBezTo>
                    <a:pt x="1026" y="32067"/>
                    <a:pt x="2391" y="30925"/>
                    <a:pt x="4029" y="30698"/>
                  </a:cubicBezTo>
                  <a:lnTo>
                    <a:pt x="31011" y="26786"/>
                  </a:lnTo>
                  <a:lnTo>
                    <a:pt x="43079" y="2417"/>
                  </a:lnTo>
                  <a:cubicBezTo>
                    <a:pt x="43815" y="936"/>
                    <a:pt x="45326" y="0"/>
                    <a:pt x="46979" y="0"/>
                  </a:cubicBezTo>
                  <a:cubicBezTo>
                    <a:pt x="48633" y="0"/>
                    <a:pt x="50144" y="936"/>
                    <a:pt x="50880" y="2417"/>
                  </a:cubicBezTo>
                  <a:lnTo>
                    <a:pt x="62948" y="26786"/>
                  </a:lnTo>
                  <a:lnTo>
                    <a:pt x="89929" y="30698"/>
                  </a:lnTo>
                  <a:cubicBezTo>
                    <a:pt x="91562" y="30933"/>
                    <a:pt x="92920" y="32075"/>
                    <a:pt x="93432" y="33643"/>
                  </a:cubicBezTo>
                  <a:cubicBezTo>
                    <a:pt x="93944" y="35212"/>
                    <a:pt x="93521" y="36935"/>
                    <a:pt x="92340" y="38088"/>
                  </a:cubicBezTo>
                  <a:lnTo>
                    <a:pt x="72816" y="57057"/>
                  </a:lnTo>
                  <a:lnTo>
                    <a:pt x="77416" y="83838"/>
                  </a:lnTo>
                  <a:cubicBezTo>
                    <a:pt x="77698" y="85467"/>
                    <a:pt x="77028" y="87115"/>
                    <a:pt x="75689" y="88085"/>
                  </a:cubicBezTo>
                  <a:cubicBezTo>
                    <a:pt x="74351" y="89056"/>
                    <a:pt x="72576" y="89180"/>
                    <a:pt x="71116" y="88405"/>
                  </a:cubicBezTo>
                  <a:lnTo>
                    <a:pt x="46979" y="75759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3219450" y="126682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同名卡升星链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57250" y="1666875"/>
            <a:ext cx="476250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411605" y="1997392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一星 + 一星 →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73855" y="199739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二星</a:t>
            </a:r>
          </a:p>
        </p:txBody>
      </p:sp>
      <p:sp>
        <p:nvSpPr>
          <p:cNvPr id="15" name="Line 15"/>
          <p:cNvSpPr/>
          <p:nvPr/>
        </p:nvSpPr>
        <p:spPr>
          <a:xfrm>
            <a:off x="1619250" y="2286000"/>
            <a:ext cx="2476500" cy="285750"/>
          </a:xfrm>
          <a:custGeom>
            <a:avLst/>
            <a:gdLst/>
            <a:ahLst/>
            <a:cxnLst/>
            <a:rect l="l" t="t" r="r" b="b"/>
            <a:pathLst>
              <a:path w="2476500" h="285750">
                <a:moveTo>
                  <a:pt x="0" y="0"/>
                </a:moveTo>
                <a:lnTo>
                  <a:pt x="2476500" y="285750"/>
                </a:lnTo>
              </a:path>
            </a:pathLst>
          </a:custGeom>
          <a:noFill/>
          <a:ln w="9525">
            <a:solidFill>
              <a:srgbClr val="2A252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411605" y="2616518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二星 + 二星 →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73855" y="2616518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三星</a:t>
            </a:r>
          </a:p>
        </p:txBody>
      </p:sp>
      <p:sp>
        <p:nvSpPr>
          <p:cNvPr id="18" name="Line 18"/>
          <p:cNvSpPr/>
          <p:nvPr/>
        </p:nvSpPr>
        <p:spPr>
          <a:xfrm>
            <a:off x="1619250" y="2905125"/>
            <a:ext cx="2476500" cy="285750"/>
          </a:xfrm>
          <a:custGeom>
            <a:avLst/>
            <a:gdLst/>
            <a:ahLst/>
            <a:cxnLst/>
            <a:rect l="l" t="t" r="r" b="b"/>
            <a:pathLst>
              <a:path w="2476500" h="285750">
                <a:moveTo>
                  <a:pt x="0" y="0"/>
                </a:moveTo>
                <a:lnTo>
                  <a:pt x="2476500" y="285750"/>
                </a:lnTo>
              </a:path>
            </a:pathLst>
          </a:custGeom>
          <a:noFill/>
          <a:ln w="9525">
            <a:solidFill>
              <a:srgbClr val="2A252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411605" y="3235642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三星 + 三星 →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73855" y="32356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四星</a:t>
            </a:r>
          </a:p>
        </p:txBody>
      </p:sp>
      <p:sp>
        <p:nvSpPr>
          <p:cNvPr id="21" name="Line 21"/>
          <p:cNvSpPr/>
          <p:nvPr/>
        </p:nvSpPr>
        <p:spPr>
          <a:xfrm>
            <a:off x="1619250" y="3524250"/>
            <a:ext cx="2476500" cy="285750"/>
          </a:xfrm>
          <a:custGeom>
            <a:avLst/>
            <a:gdLst/>
            <a:ahLst/>
            <a:cxnLst/>
            <a:rect l="l" t="t" r="r" b="b"/>
            <a:pathLst>
              <a:path w="2476500" h="285750">
                <a:moveTo>
                  <a:pt x="0" y="0"/>
                </a:moveTo>
                <a:lnTo>
                  <a:pt x="2476500" y="285750"/>
                </a:lnTo>
              </a:path>
            </a:pathLst>
          </a:custGeom>
          <a:noFill/>
          <a:ln w="9525">
            <a:solidFill>
              <a:srgbClr val="2A252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411605" y="3854768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四星 + 四星 →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73855" y="3854768"/>
            <a:ext cx="5730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五星 ★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19125" y="4953000"/>
            <a:ext cx="5238750" cy="666750"/>
          </a:xfrm>
          <a:prstGeom prst="roundRect">
            <a:avLst>
              <a:gd name="adj" fmla="val 14286"/>
            </a:avLst>
          </a:prstGeom>
          <a:solidFill>
            <a:srgbClr val="0D1117"/>
          </a:solidFill>
          <a:ln w="9525">
            <a:solidFill>
              <a:srgbClr val="C9A96E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971104" y="5061585"/>
            <a:ext cx="25347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1 张五星卡 = 2⁴ = 16 张同名一星卡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45042" y="536352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二合一升星，指数级消耗重复卡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286500" y="1000125"/>
            <a:ext cx="5334000" cy="5286375"/>
          </a:xfrm>
          <a:prstGeom prst="roundRect">
            <a:avLst>
              <a:gd name="adj" fmla="val 2162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989332" y="1219200"/>
            <a:ext cx="19283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星级系统的三大作用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572250" y="1619250"/>
            <a:ext cx="476250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6629400" y="1866900"/>
            <a:ext cx="457200" cy="457200"/>
          </a:xfrm>
          <a:prstGeom prst="ellipse">
            <a:avLst/>
          </a:prstGeom>
          <a:solidFill>
            <a:srgbClr val="C9A96E">
              <a:alpha val="15000"/>
            </a:srgbClr>
          </a:solidFill>
          <a:ln w="14288">
            <a:solidFill>
              <a:srgbClr val="C9A96E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788874" y="2016442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15200" y="193357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消耗重复卡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319962" y="2240756"/>
            <a:ext cx="28789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同名卡合并，清空冗余库存，保持卡池活力</a:t>
            </a:r>
          </a:p>
        </p:txBody>
      </p:sp>
      <p:sp>
        <p:nvSpPr>
          <p:cNvPr id="34" name="Ellipse 34"/>
          <p:cNvSpPr/>
          <p:nvPr/>
        </p:nvSpPr>
        <p:spPr>
          <a:xfrm>
            <a:off x="6629400" y="2724150"/>
            <a:ext cx="457200" cy="457200"/>
          </a:xfrm>
          <a:prstGeom prst="ellipse">
            <a:avLst/>
          </a:prstGeom>
          <a:solidFill>
            <a:srgbClr val="C9A96E">
              <a:alpha val="15000"/>
            </a:srgbClr>
          </a:solidFill>
          <a:ln w="14288">
            <a:solidFill>
              <a:srgbClr val="C9A96E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788874" y="2873692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315200" y="2790825"/>
            <a:ext cx="15082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增加低级卡价值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319962" y="3098006"/>
            <a:ext cx="33289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每张低级卡都是升星材料，抽到重复卡仍为正反馈</a:t>
            </a:r>
          </a:p>
        </p:txBody>
      </p:sp>
      <p:sp>
        <p:nvSpPr>
          <p:cNvPr id="38" name="Ellipse 38"/>
          <p:cNvSpPr/>
          <p:nvPr/>
        </p:nvSpPr>
        <p:spPr>
          <a:xfrm>
            <a:off x="6629400" y="3581400"/>
            <a:ext cx="457200" cy="457200"/>
          </a:xfrm>
          <a:prstGeom prst="ellipse">
            <a:avLst/>
          </a:prstGeom>
          <a:solidFill>
            <a:srgbClr val="C41E3A">
              <a:alpha val="15000"/>
            </a:srgbClr>
          </a:solidFill>
          <a:ln w="14288">
            <a:solidFill>
              <a:srgbClr val="C41E3A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788874" y="3730942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15200" y="36480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控制卡牌通胀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319962" y="3955256"/>
            <a:ext cx="35540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16:1 的消耗比有效消化海量抽卡产出，维持经济平衡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14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96E">
                  <a:alpha val="4000"/>
                </a:srgbClr>
              </a:gs>
              <a:gs pos="100000">
                <a:srgbClr val="C9A96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7700" y="2266950"/>
            <a:ext cx="1614773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0" b="1" dirty="0">
                <a:solidFill>
                  <a:srgbClr val="C9A96E">
                    <a:alphaMod val="15000"/>
                  </a:srgbClr>
                </a:solidFill>
                <a:latin typeface="Georgia"/>
                <a:ea typeface="KaiTi"/>
                <a:cs typeface="Georgia"/>
              </a:rPr>
              <a:t>05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3714750"/>
            <a:ext cx="762000" cy="28575"/>
          </a:xfrm>
          <a:prstGeom prst="rect">
            <a:avLst/>
          </a:prstGeom>
          <a:solidFill>
            <a:srgbClr val="C9A96E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16280" y="3802380"/>
            <a:ext cx="311581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E6E1D8"/>
                </a:solidFill>
                <a:latin typeface="Georgia"/>
                <a:ea typeface="KaiTi"/>
                <a:cs typeface="Georgia"/>
              </a:rPr>
              <a:t>合成系统设计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7235" y="4551998"/>
            <a:ext cx="536719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同名升星 · 人物关系 · 事件链 — 三种合成方式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15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96E">
                  <a:alpha val="3000"/>
                </a:srgbClr>
              </a:gs>
              <a:gs pos="100000">
                <a:srgbClr val="C9A96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28003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C9A96E"/>
                </a:solidFill>
                <a:latin typeface="Georgia"/>
                <a:ea typeface="KaiTi"/>
                <a:cs typeface="Georgia"/>
              </a:rPr>
              <a:t>三种合成方式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704850"/>
            <a:ext cx="381000" cy="19050"/>
          </a:xfrm>
          <a:prstGeom prst="rect">
            <a:avLst/>
          </a:prstGeom>
          <a:solidFill>
            <a:srgbClr val="C9A96E">
              <a:alpha val="5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3524250" cy="5048250"/>
          </a:xfrm>
          <a:prstGeom prst="roundRect">
            <a:avLst>
              <a:gd name="adj" fmla="val 3243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047750"/>
            <a:ext cx="352425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2165043" y="1414457"/>
            <a:ext cx="222849" cy="200305"/>
            <a:chOff x="2165043" y="1414457"/>
            <a:chExt cx="222849" cy="200305"/>
          </a:xfrm>
        </p:grpSpPr>
        <p:sp>
          <p:nvSpPr>
            <p:cNvPr id="8" name="Freeform 8"/>
            <p:cNvSpPr/>
            <p:nvPr/>
          </p:nvSpPr>
          <p:spPr>
            <a:xfrm>
              <a:off x="2293948" y="1525582"/>
              <a:ext cx="93944" cy="89180"/>
            </a:xfrm>
            <a:custGeom>
              <a:avLst/>
              <a:gdLst/>
              <a:ahLst/>
              <a:cxnLst/>
              <a:rect l="l" t="t" r="r" b="b"/>
              <a:pathLst>
                <a:path w="93944" h="89180">
                  <a:moveTo>
                    <a:pt x="46979" y="75759"/>
                  </a:moveTo>
                  <a:lnTo>
                    <a:pt x="22843" y="88405"/>
                  </a:lnTo>
                  <a:cubicBezTo>
                    <a:pt x="21382" y="89165"/>
                    <a:pt x="19618" y="89037"/>
                    <a:pt x="18282" y="88073"/>
                  </a:cubicBezTo>
                  <a:cubicBezTo>
                    <a:pt x="16947" y="87109"/>
                    <a:pt x="16269" y="85475"/>
                    <a:pt x="16531" y="83849"/>
                  </a:cubicBezTo>
                  <a:lnTo>
                    <a:pt x="21143" y="57057"/>
                  </a:lnTo>
                  <a:lnTo>
                    <a:pt x="1618" y="38088"/>
                  </a:lnTo>
                  <a:cubicBezTo>
                    <a:pt x="429" y="36938"/>
                    <a:pt x="0" y="35211"/>
                    <a:pt x="513" y="33639"/>
                  </a:cubicBezTo>
                  <a:cubicBezTo>
                    <a:pt x="1026" y="32067"/>
                    <a:pt x="2391" y="30925"/>
                    <a:pt x="4029" y="30698"/>
                  </a:cubicBezTo>
                  <a:lnTo>
                    <a:pt x="31011" y="26786"/>
                  </a:lnTo>
                  <a:lnTo>
                    <a:pt x="43079" y="2417"/>
                  </a:lnTo>
                  <a:cubicBezTo>
                    <a:pt x="43815" y="936"/>
                    <a:pt x="45326" y="0"/>
                    <a:pt x="46979" y="0"/>
                  </a:cubicBezTo>
                  <a:cubicBezTo>
                    <a:pt x="48633" y="0"/>
                    <a:pt x="50144" y="936"/>
                    <a:pt x="50880" y="2417"/>
                  </a:cubicBezTo>
                  <a:lnTo>
                    <a:pt x="62948" y="26786"/>
                  </a:lnTo>
                  <a:lnTo>
                    <a:pt x="89929" y="30698"/>
                  </a:lnTo>
                  <a:cubicBezTo>
                    <a:pt x="91562" y="30933"/>
                    <a:pt x="92920" y="32075"/>
                    <a:pt x="93432" y="33643"/>
                  </a:cubicBezTo>
                  <a:cubicBezTo>
                    <a:pt x="93944" y="35212"/>
                    <a:pt x="93521" y="36935"/>
                    <a:pt x="92340" y="38088"/>
                  </a:cubicBezTo>
                  <a:lnTo>
                    <a:pt x="72816" y="57057"/>
                  </a:lnTo>
                  <a:lnTo>
                    <a:pt x="77416" y="83838"/>
                  </a:lnTo>
                  <a:cubicBezTo>
                    <a:pt x="77698" y="85467"/>
                    <a:pt x="77028" y="87115"/>
                    <a:pt x="75689" y="88085"/>
                  </a:cubicBezTo>
                  <a:cubicBezTo>
                    <a:pt x="74351" y="89056"/>
                    <a:pt x="72576" y="89180"/>
                    <a:pt x="71116" y="88405"/>
                  </a:cubicBezTo>
                  <a:lnTo>
                    <a:pt x="46979" y="75759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165043" y="1525582"/>
              <a:ext cx="93944" cy="89180"/>
            </a:xfrm>
            <a:custGeom>
              <a:avLst/>
              <a:gdLst/>
              <a:ahLst/>
              <a:cxnLst/>
              <a:rect l="l" t="t" r="r" b="b"/>
              <a:pathLst>
                <a:path w="93944" h="89180">
                  <a:moveTo>
                    <a:pt x="46979" y="75759"/>
                  </a:moveTo>
                  <a:lnTo>
                    <a:pt x="22843" y="88405"/>
                  </a:lnTo>
                  <a:cubicBezTo>
                    <a:pt x="21382" y="89165"/>
                    <a:pt x="19618" y="89037"/>
                    <a:pt x="18282" y="88073"/>
                  </a:cubicBezTo>
                  <a:cubicBezTo>
                    <a:pt x="16947" y="87109"/>
                    <a:pt x="16269" y="85475"/>
                    <a:pt x="16531" y="83849"/>
                  </a:cubicBezTo>
                  <a:lnTo>
                    <a:pt x="21143" y="57057"/>
                  </a:lnTo>
                  <a:lnTo>
                    <a:pt x="1618" y="38088"/>
                  </a:lnTo>
                  <a:cubicBezTo>
                    <a:pt x="429" y="36938"/>
                    <a:pt x="0" y="35211"/>
                    <a:pt x="513" y="33639"/>
                  </a:cubicBezTo>
                  <a:cubicBezTo>
                    <a:pt x="1026" y="32067"/>
                    <a:pt x="2391" y="30925"/>
                    <a:pt x="4029" y="30698"/>
                  </a:cubicBezTo>
                  <a:lnTo>
                    <a:pt x="31011" y="26786"/>
                  </a:lnTo>
                  <a:lnTo>
                    <a:pt x="43079" y="2417"/>
                  </a:lnTo>
                  <a:cubicBezTo>
                    <a:pt x="43815" y="936"/>
                    <a:pt x="45326" y="0"/>
                    <a:pt x="46979" y="0"/>
                  </a:cubicBezTo>
                  <a:cubicBezTo>
                    <a:pt x="48633" y="0"/>
                    <a:pt x="50144" y="936"/>
                    <a:pt x="50880" y="2417"/>
                  </a:cubicBezTo>
                  <a:lnTo>
                    <a:pt x="62948" y="26786"/>
                  </a:lnTo>
                  <a:lnTo>
                    <a:pt x="89929" y="30698"/>
                  </a:lnTo>
                  <a:cubicBezTo>
                    <a:pt x="91562" y="30933"/>
                    <a:pt x="92920" y="32075"/>
                    <a:pt x="93432" y="33643"/>
                  </a:cubicBezTo>
                  <a:cubicBezTo>
                    <a:pt x="93944" y="35212"/>
                    <a:pt x="93521" y="36935"/>
                    <a:pt x="92340" y="38088"/>
                  </a:cubicBezTo>
                  <a:lnTo>
                    <a:pt x="72816" y="57057"/>
                  </a:lnTo>
                  <a:lnTo>
                    <a:pt x="77416" y="83838"/>
                  </a:lnTo>
                  <a:cubicBezTo>
                    <a:pt x="77698" y="85467"/>
                    <a:pt x="77028" y="87115"/>
                    <a:pt x="75689" y="88085"/>
                  </a:cubicBezTo>
                  <a:cubicBezTo>
                    <a:pt x="74351" y="89056"/>
                    <a:pt x="72576" y="89180"/>
                    <a:pt x="71116" y="88405"/>
                  </a:cubicBezTo>
                  <a:lnTo>
                    <a:pt x="46979" y="75759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2229496" y="1414457"/>
              <a:ext cx="93944" cy="89180"/>
            </a:xfrm>
            <a:custGeom>
              <a:avLst/>
              <a:gdLst/>
              <a:ahLst/>
              <a:cxnLst/>
              <a:rect l="l" t="t" r="r" b="b"/>
              <a:pathLst>
                <a:path w="93944" h="89180">
                  <a:moveTo>
                    <a:pt x="46979" y="75759"/>
                  </a:moveTo>
                  <a:lnTo>
                    <a:pt x="22843" y="88405"/>
                  </a:lnTo>
                  <a:cubicBezTo>
                    <a:pt x="21382" y="89165"/>
                    <a:pt x="19618" y="89037"/>
                    <a:pt x="18282" y="88073"/>
                  </a:cubicBezTo>
                  <a:cubicBezTo>
                    <a:pt x="16947" y="87109"/>
                    <a:pt x="16269" y="85475"/>
                    <a:pt x="16531" y="83849"/>
                  </a:cubicBezTo>
                  <a:lnTo>
                    <a:pt x="21143" y="57057"/>
                  </a:lnTo>
                  <a:lnTo>
                    <a:pt x="1618" y="38088"/>
                  </a:lnTo>
                  <a:cubicBezTo>
                    <a:pt x="429" y="36938"/>
                    <a:pt x="0" y="35211"/>
                    <a:pt x="513" y="33639"/>
                  </a:cubicBezTo>
                  <a:cubicBezTo>
                    <a:pt x="1026" y="32067"/>
                    <a:pt x="2391" y="30925"/>
                    <a:pt x="4029" y="30698"/>
                  </a:cubicBezTo>
                  <a:lnTo>
                    <a:pt x="31011" y="26786"/>
                  </a:lnTo>
                  <a:lnTo>
                    <a:pt x="43079" y="2417"/>
                  </a:lnTo>
                  <a:cubicBezTo>
                    <a:pt x="43815" y="936"/>
                    <a:pt x="45326" y="0"/>
                    <a:pt x="46979" y="0"/>
                  </a:cubicBezTo>
                  <a:cubicBezTo>
                    <a:pt x="48633" y="0"/>
                    <a:pt x="50144" y="936"/>
                    <a:pt x="50880" y="2417"/>
                  </a:cubicBezTo>
                  <a:lnTo>
                    <a:pt x="62948" y="26786"/>
                  </a:lnTo>
                  <a:lnTo>
                    <a:pt x="89929" y="30698"/>
                  </a:lnTo>
                  <a:cubicBezTo>
                    <a:pt x="91562" y="30933"/>
                    <a:pt x="92920" y="32075"/>
                    <a:pt x="93432" y="33643"/>
                  </a:cubicBezTo>
                  <a:cubicBezTo>
                    <a:pt x="93944" y="35212"/>
                    <a:pt x="93521" y="36935"/>
                    <a:pt x="92340" y="38088"/>
                  </a:cubicBezTo>
                  <a:lnTo>
                    <a:pt x="72816" y="57057"/>
                  </a:lnTo>
                  <a:lnTo>
                    <a:pt x="77416" y="83838"/>
                  </a:lnTo>
                  <a:cubicBezTo>
                    <a:pt x="77698" y="85467"/>
                    <a:pt x="77028" y="87115"/>
                    <a:pt x="75689" y="88085"/>
                  </a:cubicBezTo>
                  <a:cubicBezTo>
                    <a:pt x="74351" y="89056"/>
                    <a:pt x="72576" y="89180"/>
                    <a:pt x="71116" y="88405"/>
                  </a:cubicBezTo>
                  <a:lnTo>
                    <a:pt x="46979" y="75759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806702" y="1663065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9A96E"/>
                </a:solidFill>
                <a:latin typeface="Georgia"/>
                <a:ea typeface="KaiTi"/>
                <a:cs typeface="Georgia"/>
              </a:rPr>
              <a:t>同名升星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30229" y="2077402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重复卡消耗机制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57250" y="2428875"/>
            <a:ext cx="295275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37260" y="2680335"/>
            <a:ext cx="7585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刘备·一星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24915" y="2934652"/>
            <a:ext cx="7827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+ 刘备·一星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52500" y="3238500"/>
            <a:ext cx="476250" cy="19050"/>
          </a:xfrm>
          <a:prstGeom prst="rect">
            <a:avLst/>
          </a:prstGeom>
          <a:solidFill>
            <a:srgbClr val="C9A96E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37260" y="3375660"/>
            <a:ext cx="7949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刘备·二星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57250" y="3810000"/>
            <a:ext cx="295275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39165" y="4030028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适用所有级别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9165" y="4268152"/>
            <a:ext cx="8177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1-5级升星链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9165" y="4506278"/>
            <a:ext cx="12588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1张五星 = 16张一星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333875" y="1047750"/>
            <a:ext cx="3524250" cy="5048250"/>
          </a:xfrm>
          <a:prstGeom prst="roundRect">
            <a:avLst>
              <a:gd name="adj" fmla="val 3243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4333875" y="1047750"/>
            <a:ext cx="352425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5949948" y="1420145"/>
            <a:ext cx="183215" cy="188636"/>
            <a:chOff x="5949948" y="1420145"/>
            <a:chExt cx="183215" cy="188636"/>
          </a:xfrm>
        </p:grpSpPr>
        <p:sp>
          <p:nvSpPr>
            <p:cNvPr id="25" name="Freeform 25"/>
            <p:cNvSpPr/>
            <p:nvPr/>
          </p:nvSpPr>
          <p:spPr>
            <a:xfrm>
              <a:off x="6005512" y="1481138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66675"/>
                  </a:moveTo>
                  <a:lnTo>
                    <a:pt x="66675" y="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6027738" y="1420145"/>
              <a:ext cx="105425" cy="105442"/>
            </a:xfrm>
            <a:custGeom>
              <a:avLst/>
              <a:gdLst/>
              <a:ahLst/>
              <a:cxnLst/>
              <a:rect l="l" t="t" r="r" b="b"/>
              <a:pathLst>
                <a:path w="105425" h="105442">
                  <a:moveTo>
                    <a:pt x="0" y="27655"/>
                  </a:moveTo>
                  <a:lnTo>
                    <a:pt x="5145" y="21698"/>
                  </a:lnTo>
                  <a:cubicBezTo>
                    <a:pt x="26846" y="0"/>
                    <a:pt x="62029" y="2"/>
                    <a:pt x="83727" y="21704"/>
                  </a:cubicBezTo>
                  <a:cubicBezTo>
                    <a:pt x="105425" y="43405"/>
                    <a:pt x="105423" y="78588"/>
                    <a:pt x="83722" y="100286"/>
                  </a:cubicBezTo>
                  <a:lnTo>
                    <a:pt x="77787" y="105442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5949948" y="1503362"/>
              <a:ext cx="100014" cy="105419"/>
            </a:xfrm>
            <a:custGeom>
              <a:avLst/>
              <a:gdLst/>
              <a:ahLst/>
              <a:cxnLst/>
              <a:rect l="l" t="t" r="r" b="b"/>
              <a:pathLst>
                <a:path w="100014" h="105419">
                  <a:moveTo>
                    <a:pt x="100014" y="77787"/>
                  </a:moveTo>
                  <a:lnTo>
                    <a:pt x="95602" y="83722"/>
                  </a:lnTo>
                  <a:cubicBezTo>
                    <a:pt x="73661" y="105419"/>
                    <a:pt x="38345" y="105419"/>
                    <a:pt x="16404" y="83722"/>
                  </a:cubicBezTo>
                  <a:cubicBezTo>
                    <a:pt x="5907" y="73343"/>
                    <a:pt x="0" y="59195"/>
                    <a:pt x="0" y="44433"/>
                  </a:cubicBezTo>
                  <a:cubicBezTo>
                    <a:pt x="0" y="29672"/>
                    <a:pt x="5907" y="15524"/>
                    <a:pt x="16404" y="5145"/>
                  </a:cubicBezTo>
                  <a:lnTo>
                    <a:pt x="22227" y="0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5317046" y="1663065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9A96E"/>
                </a:solidFill>
                <a:latin typeface="Georgia"/>
                <a:ea typeface="KaiTi"/>
                <a:cs typeface="Georgia"/>
              </a:rPr>
              <a:t>人物关系合成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522595" y="2077402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历史人物真实关系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619625" y="2428875"/>
            <a:ext cx="295275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700588" y="2640806"/>
            <a:ext cx="8011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刘备 + 关羽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988242" y="2895124"/>
            <a:ext cx="6553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→ 桃园结义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700588" y="3212306"/>
            <a:ext cx="8011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刘邦 + 纪信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988242" y="3466624"/>
            <a:ext cx="6553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→ 荥阳脱困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700588" y="3783806"/>
            <a:ext cx="8011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项羽 + 刘邦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988242" y="4038124"/>
            <a:ext cx="6553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→ 楚汉相争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700588" y="4355306"/>
            <a:ext cx="8011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孙权 + 刘备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988242" y="4609624"/>
            <a:ext cx="6553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→ 孙刘联盟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096250" y="1047750"/>
            <a:ext cx="3524250" cy="5048250"/>
          </a:xfrm>
          <a:prstGeom prst="roundRect">
            <a:avLst>
              <a:gd name="adj" fmla="val 3243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8096250" y="1047750"/>
            <a:ext cx="352425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</p:sp>
      <p:sp>
        <p:nvSpPr>
          <p:cNvPr id="42" name="Freeform 42"/>
          <p:cNvSpPr/>
          <p:nvPr/>
        </p:nvSpPr>
        <p:spPr>
          <a:xfrm>
            <a:off x="9701212" y="1414462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11112" y="44450"/>
                </a:moveTo>
                <a:lnTo>
                  <a:pt x="44450" y="44450"/>
                </a:lnTo>
                <a:cubicBezTo>
                  <a:pt x="50587" y="44450"/>
                  <a:pt x="55562" y="39475"/>
                  <a:pt x="55562" y="33338"/>
                </a:cubicBezTo>
                <a:lnTo>
                  <a:pt x="55562" y="22225"/>
                </a:lnTo>
                <a:cubicBezTo>
                  <a:pt x="55562" y="9950"/>
                  <a:pt x="65513" y="0"/>
                  <a:pt x="77788" y="0"/>
                </a:cubicBezTo>
                <a:cubicBezTo>
                  <a:pt x="90062" y="0"/>
                  <a:pt x="100012" y="9950"/>
                  <a:pt x="100012" y="22225"/>
                </a:cubicBezTo>
                <a:lnTo>
                  <a:pt x="100012" y="33338"/>
                </a:lnTo>
                <a:cubicBezTo>
                  <a:pt x="100012" y="39475"/>
                  <a:pt x="104988" y="44450"/>
                  <a:pt x="111125" y="44450"/>
                </a:cubicBezTo>
                <a:lnTo>
                  <a:pt x="144463" y="44450"/>
                </a:lnTo>
                <a:cubicBezTo>
                  <a:pt x="150600" y="44450"/>
                  <a:pt x="155575" y="49425"/>
                  <a:pt x="155575" y="55563"/>
                </a:cubicBezTo>
                <a:lnTo>
                  <a:pt x="155575" y="88900"/>
                </a:lnTo>
                <a:cubicBezTo>
                  <a:pt x="155575" y="95037"/>
                  <a:pt x="160550" y="100012"/>
                  <a:pt x="166688" y="100012"/>
                </a:cubicBezTo>
                <a:lnTo>
                  <a:pt x="177800" y="100012"/>
                </a:lnTo>
                <a:cubicBezTo>
                  <a:pt x="190075" y="100012"/>
                  <a:pt x="200025" y="109963"/>
                  <a:pt x="200025" y="122238"/>
                </a:cubicBezTo>
                <a:cubicBezTo>
                  <a:pt x="200025" y="134512"/>
                  <a:pt x="190075" y="144462"/>
                  <a:pt x="177800" y="144462"/>
                </a:cubicBezTo>
                <a:lnTo>
                  <a:pt x="166688" y="144462"/>
                </a:lnTo>
                <a:cubicBezTo>
                  <a:pt x="160550" y="144462"/>
                  <a:pt x="155575" y="149438"/>
                  <a:pt x="155575" y="155575"/>
                </a:cubicBezTo>
                <a:lnTo>
                  <a:pt x="155575" y="188913"/>
                </a:lnTo>
                <a:cubicBezTo>
                  <a:pt x="155575" y="195050"/>
                  <a:pt x="150600" y="200025"/>
                  <a:pt x="144463" y="200025"/>
                </a:cubicBezTo>
                <a:lnTo>
                  <a:pt x="111125" y="200025"/>
                </a:lnTo>
                <a:cubicBezTo>
                  <a:pt x="104988" y="200025"/>
                  <a:pt x="100012" y="195050"/>
                  <a:pt x="100012" y="188913"/>
                </a:cubicBezTo>
                <a:lnTo>
                  <a:pt x="100012" y="177800"/>
                </a:lnTo>
                <a:cubicBezTo>
                  <a:pt x="100012" y="165525"/>
                  <a:pt x="90062" y="155575"/>
                  <a:pt x="77788" y="155575"/>
                </a:cubicBezTo>
                <a:cubicBezTo>
                  <a:pt x="65513" y="155575"/>
                  <a:pt x="55562" y="165525"/>
                  <a:pt x="55562" y="177800"/>
                </a:cubicBezTo>
                <a:lnTo>
                  <a:pt x="55562" y="188913"/>
                </a:lnTo>
                <a:cubicBezTo>
                  <a:pt x="55562" y="195050"/>
                  <a:pt x="50587" y="200025"/>
                  <a:pt x="44450" y="200025"/>
                </a:cubicBezTo>
                <a:lnTo>
                  <a:pt x="11112" y="200025"/>
                </a:lnTo>
                <a:cubicBezTo>
                  <a:pt x="4975" y="200025"/>
                  <a:pt x="0" y="195050"/>
                  <a:pt x="0" y="188913"/>
                </a:cubicBezTo>
                <a:lnTo>
                  <a:pt x="0" y="155575"/>
                </a:lnTo>
                <a:cubicBezTo>
                  <a:pt x="0" y="149438"/>
                  <a:pt x="4975" y="144462"/>
                  <a:pt x="11112" y="144462"/>
                </a:cubicBezTo>
                <a:lnTo>
                  <a:pt x="22225" y="144462"/>
                </a:lnTo>
                <a:cubicBezTo>
                  <a:pt x="34500" y="144462"/>
                  <a:pt x="44450" y="134512"/>
                  <a:pt x="44450" y="122238"/>
                </a:cubicBezTo>
                <a:cubicBezTo>
                  <a:pt x="44450" y="109963"/>
                  <a:pt x="34500" y="100012"/>
                  <a:pt x="22225" y="100012"/>
                </a:cubicBezTo>
                <a:lnTo>
                  <a:pt x="11112" y="100012"/>
                </a:lnTo>
                <a:cubicBezTo>
                  <a:pt x="4975" y="100012"/>
                  <a:pt x="0" y="95037"/>
                  <a:pt x="0" y="88900"/>
                </a:cubicBezTo>
                <a:lnTo>
                  <a:pt x="0" y="55563"/>
                </a:lnTo>
                <a:cubicBezTo>
                  <a:pt x="0" y="49425"/>
                  <a:pt x="4975" y="44450"/>
                  <a:pt x="11112" y="44450"/>
                </a:cubicBezTo>
              </a:path>
            </a:pathLst>
          </a:custGeom>
          <a:noFill/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205436" y="1663065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9A96E"/>
                </a:solidFill>
                <a:latin typeface="Georgia"/>
                <a:ea typeface="KaiTi"/>
                <a:cs typeface="Georgia"/>
              </a:rPr>
              <a:t>事件链合成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354979" y="2077402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历史先后逻辑链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382000" y="2428875"/>
            <a:ext cx="295275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462962" y="2640806"/>
            <a:ext cx="9286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陈胜吴广起义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750618" y="2895124"/>
            <a:ext cx="6553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+ 巨鹿之战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750618" y="3133249"/>
            <a:ext cx="6553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→ 秦末烽烟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462962" y="34980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秦末烽烟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750618" y="3752374"/>
            <a:ext cx="5253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+ 鸿门宴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750618" y="3990499"/>
            <a:ext cx="6553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→ 楚汉争霸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62962" y="435530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楚汉争霸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750618" y="4609624"/>
            <a:ext cx="6553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+ 垓下之围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750618" y="4847749"/>
            <a:ext cx="6553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→ 大汉开国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16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96E">
                  <a:alpha val="3000"/>
                </a:srgbClr>
              </a:gs>
              <a:gs pos="100000">
                <a:srgbClr val="C9A96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280035"/>
            <a:ext cx="309295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C9A96E"/>
                </a:solidFill>
                <a:latin typeface="Georgia"/>
                <a:ea typeface="KaiTi"/>
                <a:cs typeface="Georgia"/>
              </a:rPr>
              <a:t>成功率与经济模型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704850"/>
            <a:ext cx="381000" cy="19050"/>
          </a:xfrm>
          <a:prstGeom prst="rect">
            <a:avLst/>
          </a:prstGeom>
          <a:solidFill>
            <a:srgbClr val="C9A96E">
              <a:alpha val="5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952500"/>
            <a:ext cx="4191000" cy="5334000"/>
          </a:xfrm>
          <a:prstGeom prst="roundRect">
            <a:avLst>
              <a:gd name="adj" fmla="val 2727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122884" y="117157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合成成功率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9165" y="1601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合成目标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26860" y="160115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成功率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1828800"/>
            <a:ext cx="381000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38212" y="1974056"/>
            <a:ext cx="6661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1级 → 7级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92668" y="1974056"/>
            <a:ext cx="38862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4CAF50"/>
                </a:solidFill>
                <a:latin typeface="Arial"/>
                <a:ea typeface="Microsoft YaHei"/>
                <a:cs typeface="Arial"/>
              </a:rPr>
              <a:t>100%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8212" y="2307431"/>
            <a:ext cx="6661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7级 → 8级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75178" y="2307431"/>
            <a:ext cx="3061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95%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8212" y="2640806"/>
            <a:ext cx="6661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8级 → 9级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75178" y="2640806"/>
            <a:ext cx="3061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90%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8212" y="2974181"/>
            <a:ext cx="7486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9级 → 10级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75178" y="2974181"/>
            <a:ext cx="3061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85%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8212" y="3307556"/>
            <a:ext cx="8311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10级 → 11级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75178" y="3307556"/>
            <a:ext cx="3061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80%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8212" y="3640931"/>
            <a:ext cx="8311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11级 → 12级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375178" y="3640931"/>
            <a:ext cx="3061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75%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62000" y="4000500"/>
            <a:ext cx="381000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39165" y="4220528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失败处理：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39165" y="4458652"/>
            <a:ext cx="17768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· 7→8：返还主卡，消耗副卡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9165" y="4696778"/>
            <a:ext cx="19939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· 8→10：返还主卡，给失败碎片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9165" y="4934902"/>
            <a:ext cx="20709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· 10→11：返还主卡，给高级碎片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9165" y="5173028"/>
            <a:ext cx="22109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· 11→12：若编号已满，给替代奖励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048250" y="952500"/>
            <a:ext cx="6572250" cy="5334000"/>
          </a:xfrm>
          <a:prstGeom prst="roundRect">
            <a:avLst>
              <a:gd name="adj" fmla="val 2143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895272" y="11715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消耗估算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334000" y="1524000"/>
            <a:ext cx="600075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5524500" y="1762125"/>
            <a:ext cx="5619750" cy="666750"/>
          </a:xfrm>
          <a:prstGeom prst="roundRect">
            <a:avLst>
              <a:gd name="adj" fmla="val 11429"/>
            </a:avLst>
          </a:prstGeom>
          <a:solidFill>
            <a:srgbClr val="0D1117"/>
          </a:solidFill>
          <a:ln w="9525">
            <a:solidFill>
              <a:srgbClr val="C9A96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610642" y="1902142"/>
            <a:ext cx="14474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9A96E"/>
                </a:solidFill>
                <a:latin typeface="Consolas"/>
                <a:ea typeface="Microsoft YaHei"/>
                <a:cs typeface="Consolas"/>
              </a:rPr>
              <a:t>C_n = ∏ (2 / p_i)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168098" y="2199799"/>
            <a:ext cx="23325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其中 p_i = 从 i-1 级合成到 i 级的成功率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524500" y="2667000"/>
            <a:ext cx="5619750" cy="666750"/>
          </a:xfrm>
          <a:prstGeom prst="roundRect">
            <a:avLst>
              <a:gd name="adj" fmla="val 11429"/>
            </a:avLst>
          </a:prstGeom>
          <a:solidFill>
            <a:srgbClr val="0D1117"/>
          </a:solidFill>
          <a:ln w="9525">
            <a:solidFill>
              <a:srgbClr val="C41E3A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7555039" y="2804160"/>
            <a:ext cx="15586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1 张 12 级终极编号卡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850392" y="3028950"/>
            <a:ext cx="296796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≈ 3,000 ~ 5,000 张 1 级卡等价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334000" y="3619500"/>
            <a:ext cx="600075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509260" y="3823335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全服终极卡消耗测算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510212" y="4164806"/>
            <a:ext cx="32389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8,800 张终极卡 × 4,700 张 1 级卡等价（平均）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503545" y="4441508"/>
            <a:ext cx="30221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≈ 4,136 万张低级卡等价消耗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334000" y="4953000"/>
            <a:ext cx="600075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511165" y="5173028"/>
            <a:ext cx="38421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理论最低（无失败）：1 张 12 级 = 2^11 = 2,048 张 1 级等价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511165" y="5411152"/>
            <a:ext cx="42341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引入失败率后：3,000~5,000，有效延长游戏寿命并控制高级卡通胀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17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41E3A">
                  <a:alpha val="4000"/>
                </a:srgbClr>
              </a:gs>
              <a:gs pos="100000">
                <a:srgbClr val="C9A96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738545" y="470535"/>
            <a:ext cx="271491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C9A96E"/>
                </a:solidFill>
                <a:latin typeface="Georgia"/>
                <a:ea typeface="KaiTi"/>
                <a:cs typeface="Georgia"/>
              </a:rPr>
              <a:t>终极编号卡系统</a:t>
            </a:r>
          </a:p>
        </p:txBody>
      </p:sp>
      <p:sp>
        <p:nvSpPr>
          <p:cNvPr id="5" name="Rectangle 5"/>
          <p:cNvSpPr/>
          <p:nvPr/>
        </p:nvSpPr>
        <p:spPr>
          <a:xfrm>
            <a:off x="3714750" y="1047750"/>
            <a:ext cx="4762500" cy="323850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9050">
            <a:solidFill>
              <a:srgbClr val="C9A96E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714750" y="1047750"/>
            <a:ext cx="4762500" cy="38100"/>
          </a:xfrm>
          <a:prstGeom prst="rect">
            <a:avLst/>
          </a:prstGeom>
          <a:gradFill>
            <a:gsLst>
              <a:gs pos="0">
                <a:srgbClr val="C9A96E">
                  <a:alpha val="12000"/>
                </a:srgbClr>
              </a:gs>
              <a:gs pos="100000">
                <a:srgbClr val="C41E3A">
                  <a:alpha val="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305616" y="1280160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C9A96E"/>
                </a:solidFill>
                <a:latin typeface="Georgia"/>
                <a:ea typeface="KaiTi"/>
                <a:cs typeface="Georgia"/>
              </a:rPr>
              <a:t>赤壁之战</a:t>
            </a:r>
          </a:p>
        </p:txBody>
      </p:sp>
      <p:sp>
        <p:nvSpPr>
          <p:cNvPr id="8" name="Rectangle 8"/>
          <p:cNvSpPr/>
          <p:nvPr/>
        </p:nvSpPr>
        <p:spPr>
          <a:xfrm>
            <a:off x="4286250" y="1762125"/>
            <a:ext cx="361950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129236" y="2045018"/>
            <a:ext cx="19335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12 级 · 终极历史事件卡</a:t>
            </a:r>
          </a:p>
        </p:txBody>
      </p:sp>
      <p:sp>
        <p:nvSpPr>
          <p:cNvPr id="10" name="Freeform 10"/>
          <p:cNvSpPr/>
          <p:nvPr/>
        </p:nvSpPr>
        <p:spPr>
          <a:xfrm>
            <a:off x="5981700" y="2552700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114300" y="0"/>
                </a:moveTo>
                <a:lnTo>
                  <a:pt x="165100" y="76200"/>
                </a:lnTo>
                <a:lnTo>
                  <a:pt x="228600" y="25400"/>
                </a:lnTo>
                <a:lnTo>
                  <a:pt x="203200" y="152400"/>
                </a:lnTo>
                <a:lnTo>
                  <a:pt x="25400" y="152400"/>
                </a:lnTo>
                <a:lnTo>
                  <a:pt x="0" y="25400"/>
                </a:lnTo>
                <a:lnTo>
                  <a:pt x="63500" y="76200"/>
                </a:lnTo>
                <a:lnTo>
                  <a:pt x="114300" y="0"/>
                </a:lnTo>
              </a:path>
            </a:pathLst>
          </a:custGeom>
          <a:noFill/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4572000" y="2952750"/>
            <a:ext cx="3048000" cy="666750"/>
          </a:xfrm>
          <a:prstGeom prst="roundRect">
            <a:avLst>
              <a:gd name="adj" fmla="val 11429"/>
            </a:avLst>
          </a:prstGeom>
          <a:solidFill>
            <a:srgbClr val="0D1117"/>
          </a:solidFill>
          <a:ln w="14288">
            <a:solidFill>
              <a:srgbClr val="C41E3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942648" y="3125152"/>
            <a:ext cx="3067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编号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43061" y="331089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41E3A"/>
                </a:solidFill>
                <a:latin typeface="Consolas"/>
                <a:ea typeface="Microsoft YaHei"/>
                <a:cs typeface="Consolas"/>
              </a:rPr>
              <a:t>#017 / 088</a:t>
            </a:r>
          </a:p>
        </p:txBody>
      </p:sp>
      <p:sp>
        <p:nvSpPr>
          <p:cNvPr id="14" name="Rectangle 14"/>
          <p:cNvSpPr/>
          <p:nvPr/>
        </p:nvSpPr>
        <p:spPr>
          <a:xfrm>
            <a:off x="2857500" y="4572000"/>
            <a:ext cx="1905000" cy="762000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446621" y="4792028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终极卡种类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40750" y="4964430"/>
            <a:ext cx="538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100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143500" y="4572000"/>
            <a:ext cx="1905000" cy="762000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802630" y="479202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每种限量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07610" y="4964430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88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429500" y="4572000"/>
            <a:ext cx="1905000" cy="762000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14288">
            <a:solidFill>
              <a:srgbClr val="C41E3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088630" y="479202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总发行量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51029" y="4964430"/>
            <a:ext cx="8619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8,800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056459" y="5688806"/>
            <a:ext cx="40790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编号耗尽后：纪念版 · 随机兑换券 · 碎片补偿 · 称号/头像框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18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96E">
                  <a:alpha val="3000"/>
                </a:srgbClr>
              </a:gs>
              <a:gs pos="100000">
                <a:srgbClr val="C9A96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280035"/>
            <a:ext cx="345210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C9A96E"/>
                </a:solidFill>
                <a:latin typeface="Georgia"/>
                <a:ea typeface="KaiTi"/>
                <a:cs typeface="Georgia"/>
              </a:rPr>
              <a:t>DAU 与消耗周期测算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704850"/>
            <a:ext cx="381000" cy="19050"/>
          </a:xfrm>
          <a:prstGeom prst="rect">
            <a:avLst/>
          </a:prstGeom>
          <a:solidFill>
            <a:srgbClr val="C9A96E">
              <a:alpha val="5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952500"/>
            <a:ext cx="4762500" cy="3048000"/>
          </a:xfrm>
          <a:prstGeom prst="roundRect">
            <a:avLst>
              <a:gd name="adj" fmla="val 3750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303621" y="11715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理论消耗周期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90321" y="1505902"/>
            <a:ext cx="15248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（每人每日 35 次抽卡）</a:t>
            </a:r>
          </a:p>
        </p:txBody>
      </p:sp>
      <p:sp>
        <p:nvSpPr>
          <p:cNvPr id="9" name="Rectangle 9"/>
          <p:cNvSpPr/>
          <p:nvPr/>
        </p:nvSpPr>
        <p:spPr>
          <a:xfrm>
            <a:off x="952500" y="1809750"/>
            <a:ext cx="400050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28712" y="1974056"/>
            <a:ext cx="2884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DAU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79364" y="1974056"/>
            <a:ext cx="816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每日抽卡量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56134" y="197405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消耗周期</a:t>
            </a:r>
          </a:p>
        </p:txBody>
      </p:sp>
      <p:sp>
        <p:nvSpPr>
          <p:cNvPr id="13" name="Rectangle 13"/>
          <p:cNvSpPr/>
          <p:nvPr/>
        </p:nvSpPr>
        <p:spPr>
          <a:xfrm>
            <a:off x="952500" y="2209800"/>
            <a:ext cx="400050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125855" y="237839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1,000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93901" y="2394585"/>
            <a:ext cx="9025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35,000 / 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55252" y="237839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~1,180 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5855" y="275939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5,000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05890" y="2775585"/>
            <a:ext cx="990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175,000 / 天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53276" y="2759392"/>
            <a:ext cx="6643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~236 天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5855" y="3140392"/>
            <a:ext cx="6283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10,000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05890" y="3156585"/>
            <a:ext cx="990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350,000 / 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353276" y="3140392"/>
            <a:ext cx="6643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~118 天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5855" y="3521392"/>
            <a:ext cx="6283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50,000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29868" y="3537585"/>
            <a:ext cx="11666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1,750,000 / 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52289" y="3521392"/>
            <a:ext cx="5653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~24 天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619750" y="952500"/>
            <a:ext cx="6000750" cy="3048000"/>
          </a:xfrm>
          <a:prstGeom prst="roundRect">
            <a:avLst>
              <a:gd name="adj" fmla="val 3750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grpSp>
        <p:nvGrpSpPr>
          <p:cNvPr id="29" name="Group 29"/>
          <p:cNvGrpSpPr/>
          <p:nvPr/>
        </p:nvGrpSpPr>
        <p:grpSpPr>
          <a:xfrm>
            <a:off x="8462962" y="1316038"/>
            <a:ext cx="200025" cy="111125"/>
            <a:chOff x="8462962" y="1316038"/>
            <a:chExt cx="200025" cy="111125"/>
          </a:xfrm>
        </p:grpSpPr>
        <p:sp>
          <p:nvSpPr>
            <p:cNvPr id="27" name="Freeform 27"/>
            <p:cNvSpPr/>
            <p:nvPr/>
          </p:nvSpPr>
          <p:spPr>
            <a:xfrm>
              <a:off x="8462962" y="1316038"/>
              <a:ext cx="200025" cy="111125"/>
            </a:xfrm>
            <a:custGeom>
              <a:avLst/>
              <a:gdLst/>
              <a:ahLst/>
              <a:cxnLst/>
              <a:rect l="l" t="t" r="r" b="b"/>
              <a:pathLst>
                <a:path w="200025" h="111125">
                  <a:moveTo>
                    <a:pt x="0" y="111125"/>
                  </a:moveTo>
                  <a:lnTo>
                    <a:pt x="66675" y="44450"/>
                  </a:lnTo>
                  <a:lnTo>
                    <a:pt x="111125" y="88900"/>
                  </a:lnTo>
                  <a:lnTo>
                    <a:pt x="200025" y="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8585200" y="1316038"/>
              <a:ext cx="77787" cy="77788"/>
            </a:xfrm>
            <a:custGeom>
              <a:avLst/>
              <a:gdLst/>
              <a:ahLst/>
              <a:cxnLst/>
              <a:rect l="l" t="t" r="r" b="b"/>
              <a:pathLst>
                <a:path w="77787" h="77788">
                  <a:moveTo>
                    <a:pt x="0" y="0"/>
                  </a:moveTo>
                  <a:lnTo>
                    <a:pt x="77787" y="0"/>
                  </a:lnTo>
                  <a:lnTo>
                    <a:pt x="77787" y="77788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8601075" y="1266825"/>
            <a:ext cx="17183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实际周期延长因素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905500" y="1666875"/>
            <a:ext cx="542925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985510" y="1870710"/>
            <a:ext cx="31588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用户合成路线分散（非所有人直奔 12 级）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985510" y="2204085"/>
            <a:ext cx="24067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大量重复卡闲置或用于升星消耗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985510" y="2537460"/>
            <a:ext cx="23827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8 级以上合成失败带来额外损耗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985510" y="2870835"/>
            <a:ext cx="24067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活动卡池轮换限制获取特定卡牌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985510" y="3204210"/>
            <a:ext cx="20867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图鉴收集行为分流合成目标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985510" y="3537585"/>
            <a:ext cx="19267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自然用户流失与新增交替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286250"/>
            <a:ext cx="11049000" cy="17145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9525">
            <a:solidFill>
              <a:srgbClr val="C9A96E"/>
            </a:solidFill>
          </a:ln>
        </p:spPr>
      </p:sp>
      <p:sp>
        <p:nvSpPr>
          <p:cNvPr id="39" name="Freeform 39"/>
          <p:cNvSpPr/>
          <p:nvPr/>
        </p:nvSpPr>
        <p:spPr>
          <a:xfrm>
            <a:off x="5748338" y="4616450"/>
            <a:ext cx="188913" cy="177800"/>
          </a:xfrm>
          <a:custGeom>
            <a:avLst/>
            <a:gdLst/>
            <a:ahLst/>
            <a:cxnLst/>
            <a:rect l="l" t="t" r="r" b="b"/>
            <a:pathLst>
              <a:path w="188913" h="177800">
                <a:moveTo>
                  <a:pt x="144462" y="155575"/>
                </a:moveTo>
                <a:cubicBezTo>
                  <a:pt x="156737" y="155575"/>
                  <a:pt x="166688" y="165525"/>
                  <a:pt x="166688" y="177800"/>
                </a:cubicBezTo>
                <a:cubicBezTo>
                  <a:pt x="166688" y="165525"/>
                  <a:pt x="176638" y="155575"/>
                  <a:pt x="188913" y="155575"/>
                </a:cubicBezTo>
                <a:cubicBezTo>
                  <a:pt x="176638" y="155575"/>
                  <a:pt x="166688" y="145625"/>
                  <a:pt x="166688" y="133350"/>
                </a:cubicBezTo>
                <a:cubicBezTo>
                  <a:pt x="166688" y="145625"/>
                  <a:pt x="156737" y="155575"/>
                  <a:pt x="144462" y="155575"/>
                </a:cubicBezTo>
                <a:moveTo>
                  <a:pt x="144462" y="22225"/>
                </a:moveTo>
                <a:cubicBezTo>
                  <a:pt x="156737" y="22225"/>
                  <a:pt x="166688" y="32175"/>
                  <a:pt x="166688" y="44450"/>
                </a:cubicBezTo>
                <a:cubicBezTo>
                  <a:pt x="166688" y="32175"/>
                  <a:pt x="176638" y="22225"/>
                  <a:pt x="188913" y="22225"/>
                </a:cubicBezTo>
                <a:cubicBezTo>
                  <a:pt x="176638" y="22225"/>
                  <a:pt x="166688" y="12275"/>
                  <a:pt x="166688" y="0"/>
                </a:cubicBezTo>
                <a:cubicBezTo>
                  <a:pt x="166688" y="12275"/>
                  <a:pt x="156737" y="22225"/>
                  <a:pt x="144462" y="22225"/>
                </a:cubicBezTo>
                <a:moveTo>
                  <a:pt x="66675" y="155575"/>
                </a:moveTo>
                <a:cubicBezTo>
                  <a:pt x="66675" y="118751"/>
                  <a:pt x="96526" y="88900"/>
                  <a:pt x="133350" y="88900"/>
                </a:cubicBezTo>
                <a:cubicBezTo>
                  <a:pt x="96526" y="88900"/>
                  <a:pt x="66675" y="59049"/>
                  <a:pt x="66675" y="22225"/>
                </a:cubicBezTo>
                <a:cubicBezTo>
                  <a:pt x="66675" y="59049"/>
                  <a:pt x="36824" y="88900"/>
                  <a:pt x="0" y="88900"/>
                </a:cubicBezTo>
                <a:cubicBezTo>
                  <a:pt x="36824" y="88900"/>
                  <a:pt x="66675" y="118751"/>
                  <a:pt x="66675" y="155575"/>
                </a:cubicBezTo>
              </a:path>
            </a:pathLst>
          </a:custGeom>
          <a:noFill/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612987" y="458438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C9A96E"/>
                </a:solidFill>
                <a:latin typeface="Georgia"/>
                <a:ea typeface="KaiTi"/>
                <a:cs typeface="Georgia"/>
              </a:rPr>
              <a:t>核心结论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742188" y="4997768"/>
            <a:ext cx="27076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实际周期通常是理论值的 2 ~ 3 倍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896487" y="5347335"/>
            <a:ext cx="43990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B8680"/>
                </a:solidFill>
                <a:latin typeface="Arial"/>
                <a:ea typeface="Microsoft YaHei"/>
                <a:cs typeface="Arial"/>
              </a:rPr>
              <a:t>5,000 DAU 下，全服 8,800 张终极卡约需 1.5 ~ 2 年消耗完毕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19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96E">
                  <a:alpha val="6000"/>
                </a:srgbClr>
              </a:gs>
              <a:gs pos="100000">
                <a:srgbClr val="C9A96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4186" y="754380"/>
            <a:ext cx="160362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C9A96E"/>
                </a:solidFill>
                <a:latin typeface="Georgia"/>
                <a:ea typeface="KaiTi"/>
                <a:cs typeface="Georgia"/>
              </a:rPr>
              <a:t>下一步</a:t>
            </a:r>
          </a:p>
        </p:txBody>
      </p:sp>
      <p:sp>
        <p:nvSpPr>
          <p:cNvPr id="5" name="Rectangle 5"/>
          <p:cNvSpPr/>
          <p:nvPr/>
        </p:nvSpPr>
        <p:spPr>
          <a:xfrm>
            <a:off x="5143500" y="1333500"/>
            <a:ext cx="1905000" cy="19050"/>
          </a:xfrm>
          <a:prstGeom prst="rect">
            <a:avLst/>
          </a:prstGeom>
          <a:solidFill>
            <a:srgbClr val="C9A96E">
              <a:alpha val="4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2286000" y="1666875"/>
            <a:ext cx="7620000" cy="666750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4288">
            <a:solidFill>
              <a:srgbClr val="C9A96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414962" y="1774508"/>
            <a:ext cx="13620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E6E1D8"/>
                </a:solidFill>
                <a:latin typeface="Georgia"/>
                <a:ea typeface="KaiTi"/>
                <a:cs typeface="Georgia"/>
              </a:rPr>
              <a:t>国风炼金卡牌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25173" y="2064068"/>
            <a:ext cx="29416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9A96E"/>
                </a:solidFill>
                <a:latin typeface="Arial"/>
                <a:ea typeface="Microsoft YaHei"/>
                <a:cs typeface="Arial"/>
              </a:rPr>
              <a:t>= 游戏化 × 历史教育 × 卡牌收集经济</a:t>
            </a:r>
          </a:p>
        </p:txBody>
      </p:sp>
      <p:sp>
        <p:nvSpPr>
          <p:cNvPr id="9" name="Rectangle 9"/>
          <p:cNvSpPr/>
          <p:nvPr/>
        </p:nvSpPr>
        <p:spPr>
          <a:xfrm>
            <a:off x="952500" y="2667000"/>
            <a:ext cx="4762500" cy="3048000"/>
          </a:xfrm>
          <a:prstGeom prst="roundRect">
            <a:avLst>
              <a:gd name="adj" fmla="val 3750"/>
            </a:avLst>
          </a:prstGeom>
          <a:solidFill>
            <a:srgbClr val="161B22"/>
          </a:solidFill>
          <a:ln w="9525">
            <a:solidFill>
              <a:srgbClr val="2A2520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3095625" y="2982223"/>
            <a:ext cx="133350" cy="170552"/>
            <a:chOff x="3095625" y="2982223"/>
            <a:chExt cx="133350" cy="170552"/>
          </a:xfrm>
        </p:grpSpPr>
        <p:sp>
          <p:nvSpPr>
            <p:cNvPr id="10" name="Freeform 10"/>
            <p:cNvSpPr/>
            <p:nvPr/>
          </p:nvSpPr>
          <p:spPr>
            <a:xfrm>
              <a:off x="3095625" y="2982223"/>
              <a:ext cx="133350" cy="122029"/>
            </a:xfrm>
            <a:custGeom>
              <a:avLst/>
              <a:gdLst/>
              <a:ahLst/>
              <a:cxnLst/>
              <a:rect l="l" t="t" r="r" b="b"/>
              <a:pathLst>
                <a:path w="133350" h="122029">
                  <a:moveTo>
                    <a:pt x="0" y="18152"/>
                  </a:moveTo>
                  <a:cubicBezTo>
                    <a:pt x="18519" y="0"/>
                    <a:pt x="48156" y="0"/>
                    <a:pt x="66675" y="18152"/>
                  </a:cubicBezTo>
                  <a:cubicBezTo>
                    <a:pt x="85194" y="36304"/>
                    <a:pt x="114831" y="36304"/>
                    <a:pt x="133350" y="18152"/>
                  </a:cubicBezTo>
                  <a:lnTo>
                    <a:pt x="133350" y="103877"/>
                  </a:lnTo>
                  <a:cubicBezTo>
                    <a:pt x="114831" y="122029"/>
                    <a:pt x="85194" y="122029"/>
                    <a:pt x="66675" y="103877"/>
                  </a:cubicBezTo>
                  <a:cubicBezTo>
                    <a:pt x="48156" y="85725"/>
                    <a:pt x="18519" y="85725"/>
                    <a:pt x="0" y="103877"/>
                  </a:cubicBezTo>
                  <a:lnTo>
                    <a:pt x="0" y="18152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095625" y="3086100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3314700" y="2962275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CAF50"/>
                </a:solidFill>
                <a:latin typeface="Arial"/>
                <a:ea typeface="Microsoft YaHei"/>
                <a:cs typeface="Arial"/>
              </a:rPr>
              <a:t>已完成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238250" y="3333750"/>
            <a:ext cx="419100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317308" y="3529489"/>
            <a:ext cx="187711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产品定位与核心差异化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7308" y="3862864"/>
            <a:ext cx="204713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核心玩法设计与每日循环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17308" y="4196239"/>
            <a:ext cx="292274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卡牌体系（三级属性 + 十二级结构）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7308" y="4529614"/>
            <a:ext cx="22171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抽卡、星级、合成三大系统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7308" y="4862989"/>
            <a:ext cx="204713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经济模型与消耗周期测算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17308" y="5196364"/>
            <a:ext cx="187711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终极编号卡稀缺性设计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477000" y="2667000"/>
            <a:ext cx="4762500" cy="3048000"/>
          </a:xfrm>
          <a:prstGeom prst="roundRect">
            <a:avLst>
              <a:gd name="adj" fmla="val 3750"/>
            </a:avLst>
          </a:prstGeom>
          <a:solidFill>
            <a:srgbClr val="161B22"/>
          </a:solidFill>
          <a:ln w="9525">
            <a:solidFill>
              <a:srgbClr val="C41E3A"/>
            </a:solidFill>
          </a:ln>
        </p:spPr>
      </p:sp>
      <p:sp>
        <p:nvSpPr>
          <p:cNvPr id="22" name="Freeform 22"/>
          <p:cNvSpPr/>
          <p:nvPr/>
        </p:nvSpPr>
        <p:spPr>
          <a:xfrm>
            <a:off x="8601075" y="2990850"/>
            <a:ext cx="161925" cy="152400"/>
          </a:xfrm>
          <a:custGeom>
            <a:avLst/>
            <a:gdLst/>
            <a:ahLst/>
            <a:cxnLst/>
            <a:rect l="l" t="t" r="r" b="b"/>
            <a:pathLst>
              <a:path w="161925" h="152400">
                <a:moveTo>
                  <a:pt x="123825" y="133350"/>
                </a:moveTo>
                <a:cubicBezTo>
                  <a:pt x="134346" y="133350"/>
                  <a:pt x="142875" y="141879"/>
                  <a:pt x="142875" y="152400"/>
                </a:cubicBezTo>
                <a:cubicBezTo>
                  <a:pt x="142875" y="141879"/>
                  <a:pt x="151404" y="133350"/>
                  <a:pt x="161925" y="133350"/>
                </a:cubicBezTo>
                <a:cubicBezTo>
                  <a:pt x="151404" y="133350"/>
                  <a:pt x="142875" y="124821"/>
                  <a:pt x="142875" y="114300"/>
                </a:cubicBezTo>
                <a:cubicBezTo>
                  <a:pt x="142875" y="124821"/>
                  <a:pt x="134346" y="133350"/>
                  <a:pt x="123825" y="133350"/>
                </a:cubicBezTo>
                <a:moveTo>
                  <a:pt x="123825" y="19050"/>
                </a:moveTo>
                <a:cubicBezTo>
                  <a:pt x="134346" y="19050"/>
                  <a:pt x="142875" y="27579"/>
                  <a:pt x="142875" y="38100"/>
                </a:cubicBezTo>
                <a:cubicBezTo>
                  <a:pt x="142875" y="27579"/>
                  <a:pt x="151404" y="19050"/>
                  <a:pt x="161925" y="19050"/>
                </a:cubicBezTo>
                <a:cubicBezTo>
                  <a:pt x="151404" y="19050"/>
                  <a:pt x="142875" y="10521"/>
                  <a:pt x="142875" y="0"/>
                </a:cubicBezTo>
                <a:cubicBezTo>
                  <a:pt x="142875" y="10521"/>
                  <a:pt x="134346" y="19050"/>
                  <a:pt x="123825" y="19050"/>
                </a:cubicBezTo>
                <a:moveTo>
                  <a:pt x="57150" y="133350"/>
                </a:moveTo>
                <a:cubicBezTo>
                  <a:pt x="57150" y="101787"/>
                  <a:pt x="82737" y="76200"/>
                  <a:pt x="114300" y="76200"/>
                </a:cubicBezTo>
                <a:cubicBezTo>
                  <a:pt x="82737" y="76200"/>
                  <a:pt x="57150" y="50613"/>
                  <a:pt x="57150" y="19050"/>
                </a:cubicBezTo>
                <a:cubicBezTo>
                  <a:pt x="57150" y="50613"/>
                  <a:pt x="31563" y="76200"/>
                  <a:pt x="0" y="76200"/>
                </a:cubicBezTo>
                <a:cubicBezTo>
                  <a:pt x="31563" y="76200"/>
                  <a:pt x="57150" y="101787"/>
                  <a:pt x="57150" y="133350"/>
                </a:cubicBezTo>
              </a:path>
            </a:pathLst>
          </a:custGeom>
          <a:noFill/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839200" y="2962275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待推进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762750" y="3333750"/>
            <a:ext cx="4191000" cy="9525"/>
          </a:xfrm>
          <a:prstGeom prst="rect">
            <a:avLst/>
          </a:prstGeom>
          <a:solidFill>
            <a:srgbClr val="2A252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841808" y="3529489"/>
            <a:ext cx="170709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技术选型与架构设计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41808" y="3862864"/>
            <a:ext cx="133304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UI/UX 视觉设计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841808" y="4196239"/>
            <a:ext cx="273572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卡牌内容库建设（2,130 张母卡）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41808" y="4529614"/>
            <a:ext cx="187711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抖音小程序开发与接入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41808" y="4862989"/>
            <a:ext cx="204713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后台配置系统与数据中台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41808" y="5196364"/>
            <a:ext cx="172409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6E1D8"/>
                </a:solidFill>
                <a:latin typeface="Arial"/>
                <a:ea typeface="Microsoft YaHei"/>
                <a:cs typeface="Arial"/>
              </a:rPr>
              <a:t>· 支付/广告/合规接入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789295" y="5964555"/>
            <a:ext cx="61341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8B8680"/>
                </a:solidFill>
                <a:latin typeface="Georgia"/>
                <a:ea typeface="KaiTi"/>
                <a:cs typeface="Georgia"/>
              </a:rPr>
              <a:t>谢谢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A5550"/>
                </a:solidFill>
                <a:latin typeface="Arial"/>
                <a:ea typeface="Microsoft YaHei"/>
                <a:cs typeface="Arial"/>
              </a:rPr>
              <a:t>20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